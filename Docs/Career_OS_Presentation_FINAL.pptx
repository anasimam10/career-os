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In Pakistan today, millions of students make high-stakes life decisions based on rumors, peer pressure, and fragmented advice. Career OS is Pakistan's Career Operating System. It replaces scattered searches with a structured, step-by-step operating system that walks a student from high school uncertainty all the way to their first job, grounded in verified local market realities.</a:t>
            </a:r>
          </a:p>
          <a:p/>
          <a:p>
            <a:r>
              <a:t>Notice on screen: We have 248 HEC universities, 210 degree programs, 22 localized career pathways, and 806 automated tests passing right now. The application is live on Vercel and Render.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what happens to an intermediate student in Pakistan today. They are bombarded with viral salary rumors on TikTok and YouTube, confronted by 200+ scattered university websites, and pushed by societal expectations. The result is total confusion, leading to mid-degree dropouts and underemployment. Too much scattered information, but zero personal direction.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fundamental difference. On the left: the old way. Keyword searches, scattered PDFs, and generic chatbots that hallucinate. On the right: Career OS. We turn scattered information into a continuous, deterministic pathway: Profile, Reality Check, Hands-on Trial, University Match, Skill Building, Mock Interview, and First Job.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product experience: One student, one continuous journey. Career OS takes the student through nine sequential nodes. Notice how each step gates the next: You don't pick a degree until you run a reality check. You don't commit tuition until you complete a 7-day trial. Every single step is actionable and grounded.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student, not the search. Look at our actual live onboarding interface. In seven structured steps, we capture their education stage, province and city in Pakistan, their baseline skills, whether they want an athletic quota, and what drives them. It takes under 90 seconds, eliminates typing fatigue, and instantiates their roadmap atomically.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student's cockpit: The Journey. On the left is the live Journey page. Notice how it enforces progressive disclosure. Completed milestones have green checkmarks. The active milestone is highlighted in electric blue with an immediate call to action. Upcoming milestones are locked. This isn't a passive checklist—it is an active state machine that loads in just 11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where we eliminate career regret: Before committing four years and tuition fees, students test the career. On the left: The Career Reality Check gives honest Pakistani salary bands, competition ratios, and local risks. On the right: The 7-Day Career Trial gives practical daily micro-tasks. Test the work before committing to the degree.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 career is validated, the student needs real options in Pakistan. We indexed 248 Higher Education Commission-recognized universities and 210 degree programs across all eight provinces and regions. Students filter by city, degree type, or public/private status, and immediately connect with 38 verified scholarships and corporate trainee internships.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degree is only step one. Career OS takes the student all the way to employability through a three-stage progression: Learn through 86 curated resources. Prepare through automated Job Readiness audits. And Prove through our 10-question technical mock interview. Crucially, when a student finishes the mock interview, failed questions link directly back to learning resources to fix that specific gap.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Career OS recognizes that not all student journeys are purely academic. On the left: Our live Sports Pathway features 18 verified athletic opportunities covering PCB academies, departmental trials like WAPDA, and university quotas. On the right: Our future Talk to Alumni roadmap. In keeping with strict product honesty, this is transparently presented as Coming Soon—we capture launch notification emails without faking AI personas.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this slide carefully: The AI is NOT the source of truth. In education, hallucinations destroy trust. Career OS separates reasoning from facts through the Pakistan Knowledge Engine. Level 1 official sources are parsed and quarantined in a staging table. Qwen extracts and normalizes fields, but deterministic validation gates decide what gets promoted. Unreviewed records are strictly blocked from student endpoints.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Career OS is engineered as a real full-stack system. Next.js 14 deployed on Vercel Edge. FastAPI on Render running SQLite in WAL mode. Three Model Context Protocol servers expose 19 verified database tools. And our AI layer runs on Alibaba Cloud Qwen 3.6-plus in Singapore with an automated four-model fallback chain. There is zero Gemini in production—startup fails closed if the model chain is misconfigured.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proof that this isn't just a hackathon mockup. 806 automated tests passing in pytest with zero errors. Core database queries execute in 3 to 11 milliseconds thanks to SQLite Write-Ahead Logging and memory caching. And the frontend on Vercel, the API on Render, and our Swagger documentation are 100% live right now.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Pakistan has one of the youngest populations in the world, with over 60 million youth. By replacing rumors with structured, personalized operating systems, Career OS empowers the next generation of Pakistani engineers, doctors, entrepreneurs, and athletes to make confident, grounded life choices. The application is live right now. Thank you, and we invite you to experience the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960120"/>
            <a:ext cx="3108960" cy="347472"/>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B82F6"/>
                </a:solidFill>
                <a:latin typeface="Segoe UI"/>
              </a:defRPr>
            </a:pPr>
            <a:r>
              <a:t>PAKISTAN'S CAREER OPERATING SYSTEM</a:t>
            </a:r>
          </a:p>
        </p:txBody>
      </p:sp>
      <p:sp>
        <p:nvSpPr>
          <p:cNvPr id="4" name="TextBox 3"/>
          <p:cNvSpPr txBox="1"/>
          <p:nvPr/>
        </p:nvSpPr>
        <p:spPr>
          <a:xfrm>
            <a:off x="731520" y="1417320"/>
            <a:ext cx="5120640" cy="2103120"/>
          </a:xfrm>
          <a:prstGeom prst="rect">
            <a:avLst/>
          </a:prstGeom>
          <a:noFill/>
        </p:spPr>
        <p:txBody>
          <a:bodyPr wrap="square" lIns="0" tIns="0">
            <a:spAutoFit/>
          </a:bodyPr>
          <a:lstStyle/>
          <a:p>
            <a:pPr>
              <a:spcAft>
                <a:spcPts val="800"/>
              </a:spcAft>
              <a:defRPr sz="4000" b="1">
                <a:solidFill>
                  <a:srgbClr val="F1F5F9"/>
                </a:solidFill>
                <a:latin typeface="Segoe UI"/>
              </a:defRPr>
            </a:pPr>
            <a:r>
              <a:t>Career OS</a:t>
            </a:r>
          </a:p>
          <a:p>
            <a:pPr>
              <a:spcAft>
                <a:spcPts val="800"/>
              </a:spcAft>
              <a:defRPr sz="1350">
                <a:solidFill>
                  <a:srgbClr val="94A3B8"/>
                </a:solidFill>
                <a:latin typeface="Segoe UI"/>
              </a:defRPr>
            </a:pPr>
            <a:r>
              <a:t>Guiding Pakistani students from academic uncertainty to their first job through personalized, grounded intelligence.</a:t>
            </a:r>
          </a:p>
          <a:p>
            <a:pPr>
              <a:defRPr sz="1100" b="1">
                <a:solidFill>
                  <a:srgbClr val="3B82F6"/>
                </a:solidFill>
                <a:latin typeface="Segoe UI"/>
              </a:defRPr>
            </a:pPr>
            <a:r>
              <a:t>Live at: career-os-seven-flame.vercel.app</a:t>
            </a:r>
          </a:p>
        </p:txBody>
      </p:sp>
      <p:sp>
        <p:nvSpPr>
          <p:cNvPr id="5" name="Rounded Rectangle 4"/>
          <p:cNvSpPr/>
          <p:nvPr/>
        </p:nvSpPr>
        <p:spPr>
          <a:xfrm>
            <a:off x="731520" y="3703320"/>
            <a:ext cx="2487168" cy="114300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B82F6"/>
                </a:solidFill>
                <a:latin typeface="Segoe UI"/>
              </a:defRPr>
            </a:pPr>
            <a:r>
              <a:t>248</a:t>
            </a:r>
          </a:p>
          <a:p>
            <a:pPr>
              <a:defRPr sz="1000" b="1">
                <a:solidFill>
                  <a:srgbClr val="F1F5F9"/>
                </a:solidFill>
                <a:latin typeface="Segoe UI"/>
              </a:defRPr>
            </a:pPr>
            <a:r>
              <a:t>HEC Universities</a:t>
            </a:r>
          </a:p>
          <a:p>
            <a:pPr>
              <a:defRPr sz="800">
                <a:solidFill>
                  <a:srgbClr val="94A3B8"/>
                </a:solidFill>
                <a:latin typeface="Segoe UI"/>
              </a:defRPr>
            </a:pPr>
            <a:r>
              <a:t>166 Public, 82 Private across 8 regions</a:t>
            </a:r>
          </a:p>
        </p:txBody>
      </p:sp>
      <p:sp>
        <p:nvSpPr>
          <p:cNvPr id="6" name="Rounded Rectangle 5"/>
          <p:cNvSpPr/>
          <p:nvPr/>
        </p:nvSpPr>
        <p:spPr>
          <a:xfrm>
            <a:off x="3337560" y="3703320"/>
            <a:ext cx="2487168" cy="114300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B82F6"/>
                </a:solidFill>
                <a:latin typeface="Segoe UI"/>
              </a:defRPr>
            </a:pPr>
            <a:r>
              <a:t>210</a:t>
            </a:r>
          </a:p>
          <a:p>
            <a:pPr>
              <a:defRPr sz="1000" b="1">
                <a:solidFill>
                  <a:srgbClr val="F1F5F9"/>
                </a:solidFill>
                <a:latin typeface="Segoe UI"/>
              </a:defRPr>
            </a:pPr>
            <a:r>
              <a:t>Degree Programs</a:t>
            </a:r>
          </a:p>
          <a:p>
            <a:pPr>
              <a:defRPr sz="800">
                <a:solidFill>
                  <a:srgbClr val="94A3B8"/>
                </a:solidFill>
                <a:latin typeface="Segoe UI"/>
              </a:defRPr>
            </a:pPr>
            <a:r>
              <a:t>Verified across 64 academic disciplines</a:t>
            </a:r>
          </a:p>
        </p:txBody>
      </p:sp>
      <p:sp>
        <p:nvSpPr>
          <p:cNvPr id="7" name="Rounded Rectangle 6"/>
          <p:cNvSpPr/>
          <p:nvPr/>
        </p:nvSpPr>
        <p:spPr>
          <a:xfrm>
            <a:off x="731520" y="4937760"/>
            <a:ext cx="2487168" cy="114300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B82F6"/>
                </a:solidFill>
                <a:latin typeface="Segoe UI"/>
              </a:defRPr>
            </a:pPr>
            <a:r>
              <a:t>22</a:t>
            </a:r>
          </a:p>
          <a:p>
            <a:pPr>
              <a:defRPr sz="1000" b="1">
                <a:solidFill>
                  <a:srgbClr val="F1F5F9"/>
                </a:solidFill>
                <a:latin typeface="Segoe UI"/>
              </a:defRPr>
            </a:pPr>
            <a:r>
              <a:t>Career Pathways</a:t>
            </a:r>
          </a:p>
          <a:p>
            <a:pPr>
              <a:defRPr sz="800">
                <a:solidFill>
                  <a:srgbClr val="94A3B8"/>
                </a:solidFill>
                <a:latin typeface="Segoe UI"/>
              </a:defRPr>
            </a:pPr>
            <a:r>
              <a:t>Pakistani labor demand &amp; PKR salary bands</a:t>
            </a:r>
          </a:p>
        </p:txBody>
      </p:sp>
      <p:sp>
        <p:nvSpPr>
          <p:cNvPr id="8" name="Rounded Rectangle 7"/>
          <p:cNvSpPr/>
          <p:nvPr/>
        </p:nvSpPr>
        <p:spPr>
          <a:xfrm>
            <a:off x="3337560" y="4937760"/>
            <a:ext cx="2487168" cy="114300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10B981"/>
                </a:solidFill>
                <a:latin typeface="Segoe UI"/>
              </a:defRPr>
            </a:pPr>
            <a:r>
              <a:t>806</a:t>
            </a:r>
          </a:p>
          <a:p>
            <a:pPr>
              <a:defRPr sz="1000" b="1">
                <a:solidFill>
                  <a:srgbClr val="F1F5F9"/>
                </a:solidFill>
                <a:latin typeface="Segoe UI"/>
              </a:defRPr>
            </a:pPr>
            <a:r>
              <a:t>Automated Tests</a:t>
            </a:r>
          </a:p>
          <a:p>
            <a:pPr>
              <a:defRPr sz="800">
                <a:solidFill>
                  <a:srgbClr val="94A3B8"/>
                </a:solidFill>
                <a:latin typeface="Segoe UI"/>
              </a:defRPr>
            </a:pPr>
            <a:r>
              <a:t>100% passing test suite across all layers</a:t>
            </a:r>
          </a:p>
        </p:txBody>
      </p:sp>
      <p:sp>
        <p:nvSpPr>
          <p:cNvPr id="9" name="Rounded Rectangle 8"/>
          <p:cNvSpPr/>
          <p:nvPr/>
        </p:nvSpPr>
        <p:spPr>
          <a:xfrm>
            <a:off x="6099048" y="1024127"/>
            <a:ext cx="5385816" cy="2942463"/>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1_hero_home.png"/>
          <p:cNvPicPr>
            <a:picLocks noChangeAspect="1"/>
          </p:cNvPicPr>
          <p:nvPr/>
        </p:nvPicPr>
        <p:blipFill>
          <a:blip r:embed="rId3"/>
          <a:stretch>
            <a:fillRect/>
          </a:stretch>
        </p:blipFill>
        <p:spPr>
          <a:xfrm>
            <a:off x="6126480" y="1051560"/>
            <a:ext cx="5330952" cy="2887599"/>
          </a:xfrm>
          <a:prstGeom prst="rect">
            <a:avLst/>
          </a:prstGeom>
        </p:spPr>
      </p:pic>
      <p:sp>
        <p:nvSpPr>
          <p:cNvPr id="11" name="Rounded Rectangle 10"/>
          <p:cNvSpPr/>
          <p:nvPr/>
        </p:nvSpPr>
        <p:spPr>
          <a:xfrm>
            <a:off x="6126480" y="4114800"/>
            <a:ext cx="5330952" cy="210312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00" b="1">
                <a:solidFill>
                  <a:srgbClr val="10B981"/>
                </a:solidFill>
                <a:latin typeface="Segoe UI"/>
              </a:defRPr>
            </a:pPr>
            <a:r>
              <a:t>VERIFIED PRODUCTION DEPLOYMENT</a:t>
            </a:r>
          </a:p>
          <a:p>
            <a:pPr>
              <a:spcAft>
                <a:spcPts val="300"/>
              </a:spcAft>
              <a:defRPr sz="880">
                <a:solidFill>
                  <a:srgbClr val="94A3B8"/>
                </a:solidFill>
                <a:latin typeface="Segoe UI"/>
              </a:defRPr>
            </a:pPr>
            <a:r>
              <a:t>✓  Vercel Edge Frontend · HTTP 200 (1033 ms) · career-os-seven-flame.vercel.app</a:t>
            </a:r>
          </a:p>
          <a:p>
            <a:pPr>
              <a:spcAft>
                <a:spcPts val="300"/>
              </a:spcAft>
              <a:defRPr sz="880">
                <a:solidFill>
                  <a:srgbClr val="94A3B8"/>
                </a:solidFill>
                <a:latin typeface="Segoe UI"/>
              </a:defRPr>
            </a:pPr>
            <a:r>
              <a:t>✓  Render Backend Gateway · HTTP 200 (406 ms) · ah-career-backend.onrender.com</a:t>
            </a:r>
          </a:p>
          <a:p>
            <a:pPr>
              <a:spcAft>
                <a:spcPts val="300"/>
              </a:spcAft>
              <a:defRPr sz="880">
                <a:solidFill>
                  <a:srgbClr val="94A3B8"/>
                </a:solidFill>
                <a:latin typeface="Segoe UI"/>
              </a:defRPr>
            </a:pPr>
            <a:r>
              <a:t>✓  Interactive OpenAPI / Docs · HTTP 200 (352 ms) · ah-career-backend.onrender.com/docs</a:t>
            </a:r>
          </a:p>
        </p:txBody>
      </p:sp>
      <p:sp>
        <p:nvSpPr>
          <p:cNvPr id="12" name="TextBox 11"/>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Career OS · Verified against current repository &amp; active deployment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THE CORE DILEMMA</a:t>
            </a:r>
          </a:p>
          <a:p>
            <a:pPr>
              <a:spcAft>
                <a:spcPts val="200"/>
              </a:spcAft>
              <a:defRPr sz="2400" b="1">
                <a:solidFill>
                  <a:srgbClr val="F1F5F9"/>
                </a:solidFill>
                <a:latin typeface="Segoe UI"/>
              </a:defRPr>
            </a:pPr>
            <a:r>
              <a:t>Students Don't Lack Information. They Lack a Path.</a:t>
            </a:r>
          </a:p>
          <a:p>
            <a:pPr>
              <a:defRPr sz="1150">
                <a:solidFill>
                  <a:srgbClr val="94A3B8"/>
                </a:solidFill>
                <a:latin typeface="Segoe UI"/>
              </a:defRPr>
            </a:pPr>
            <a:r>
              <a:t>Pakistani students face an overwhelming barrage of unstructured advice, viral salary rumors, and scattered portals.</a:t>
            </a:r>
          </a:p>
        </p:txBody>
      </p:sp>
      <p:sp>
        <p:nvSpPr>
          <p:cNvPr id="4" name="Rounded Rectangle 3"/>
          <p:cNvSpPr/>
          <p:nvPr/>
        </p:nvSpPr>
        <p:spPr>
          <a:xfrm>
            <a:off x="731520" y="1554480"/>
            <a:ext cx="2514600" cy="15087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F59E0B"/>
                </a:solidFill>
                <a:latin typeface="Segoe UI"/>
              </a:defRPr>
            </a:pPr>
            <a:r>
              <a:t>Viral Salary Rumors</a:t>
            </a:r>
          </a:p>
          <a:p>
            <a:pPr>
              <a:defRPr sz="900">
                <a:solidFill>
                  <a:srgbClr val="94A3B8"/>
                </a:solidFill>
                <a:latin typeface="Segoe UI"/>
              </a:defRPr>
            </a:pPr>
            <a:r>
              <a:t>Influencers claiming 500k PKR entry salaries with zero context on required skills.</a:t>
            </a:r>
          </a:p>
        </p:txBody>
      </p:sp>
      <p:sp>
        <p:nvSpPr>
          <p:cNvPr id="5" name="Rounded Rectangle 4"/>
          <p:cNvSpPr/>
          <p:nvPr/>
        </p:nvSpPr>
        <p:spPr>
          <a:xfrm>
            <a:off x="3465576" y="1554480"/>
            <a:ext cx="2514600" cy="15087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3B82F6"/>
                </a:solidFill>
                <a:latin typeface="Segoe UI"/>
              </a:defRPr>
            </a:pPr>
            <a:r>
              <a:t>200+ Disjointed Portals</a:t>
            </a:r>
          </a:p>
          <a:p>
            <a:pPr>
              <a:defRPr sz="900">
                <a:solidFill>
                  <a:srgbClr val="94A3B8"/>
                </a:solidFill>
                <a:latin typeface="Segoe UI"/>
              </a:defRPr>
            </a:pPr>
            <a:r>
              <a:t>Admission criteria, fees, and tests buried across unstandardized university websites.</a:t>
            </a:r>
          </a:p>
        </p:txBody>
      </p:sp>
      <p:sp>
        <p:nvSpPr>
          <p:cNvPr id="6" name="Rounded Rectangle 5"/>
          <p:cNvSpPr/>
          <p:nvPr/>
        </p:nvSpPr>
        <p:spPr>
          <a:xfrm>
            <a:off x="6199632" y="1554480"/>
            <a:ext cx="2514600" cy="15087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94A3B8"/>
                </a:solidFill>
                <a:latin typeface="Segoe UI"/>
              </a:defRPr>
            </a:pPr>
            <a:r>
              <a:t>Family &amp; Societal Pressure</a:t>
            </a:r>
          </a:p>
          <a:p>
            <a:pPr>
              <a:defRPr sz="900">
                <a:solidFill>
                  <a:srgbClr val="94A3B8"/>
                </a:solidFill>
                <a:latin typeface="Segoe UI"/>
              </a:defRPr>
            </a:pPr>
            <a:r>
              <a:t>Blindly pushing students toward saturated medical and engineering seats.</a:t>
            </a:r>
          </a:p>
        </p:txBody>
      </p:sp>
      <p:sp>
        <p:nvSpPr>
          <p:cNvPr id="7" name="Rounded Rectangle 6"/>
          <p:cNvSpPr/>
          <p:nvPr/>
        </p:nvSpPr>
        <p:spPr>
          <a:xfrm>
            <a:off x="8933688" y="1554480"/>
            <a:ext cx="2514600" cy="15087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EF4444"/>
                </a:solidFill>
                <a:latin typeface="Segoe UI"/>
              </a:defRPr>
            </a:pPr>
            <a:r>
              <a:t>Scattered Deadlines</a:t>
            </a:r>
          </a:p>
          <a:p>
            <a:pPr>
              <a:defRPr sz="900">
                <a:solidFill>
                  <a:srgbClr val="94A3B8"/>
                </a:solidFill>
                <a:latin typeface="Segoe UI"/>
              </a:defRPr>
            </a:pPr>
            <a:r>
              <a:t>Scholarship dates, NTS/ECAT tests, and internship windows frequently missed.</a:t>
            </a:r>
          </a:p>
        </p:txBody>
      </p:sp>
      <p:sp>
        <p:nvSpPr>
          <p:cNvPr id="8" name="Rounded Rectangle 7"/>
          <p:cNvSpPr/>
          <p:nvPr/>
        </p:nvSpPr>
        <p:spPr>
          <a:xfrm>
            <a:off x="731520" y="3337560"/>
            <a:ext cx="2514600" cy="128016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150" b="1">
                <a:solidFill>
                  <a:srgbClr val="3B82F6"/>
                </a:solidFill>
                <a:latin typeface="Segoe UI"/>
              </a:defRPr>
            </a:pPr>
            <a:r>
              <a:t>1. Fragmented Info</a:t>
            </a:r>
          </a:p>
          <a:p>
            <a:pPr>
              <a:defRPr sz="850">
                <a:solidFill>
                  <a:srgbClr val="94A3B8"/>
                </a:solidFill>
                <a:latin typeface="Segoe UI"/>
              </a:defRPr>
            </a:pPr>
            <a:r>
              <a:t>Unverified sources &amp; salary myths</a:t>
            </a:r>
          </a:p>
        </p:txBody>
      </p:sp>
      <p:sp>
        <p:nvSpPr>
          <p:cNvPr id="9" name="Rounded Rectangle 8"/>
          <p:cNvSpPr/>
          <p:nvPr/>
        </p:nvSpPr>
        <p:spPr>
          <a:xfrm>
            <a:off x="3465576" y="3337560"/>
            <a:ext cx="2514600" cy="128016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150" b="1">
                <a:solidFill>
                  <a:srgbClr val="3B82F6"/>
                </a:solidFill>
                <a:latin typeface="Segoe UI"/>
              </a:defRPr>
            </a:pPr>
            <a:r>
              <a:t>2. Confusion &amp; FOMO</a:t>
            </a:r>
          </a:p>
          <a:p>
            <a:pPr>
              <a:defRPr sz="850">
                <a:solidFill>
                  <a:srgbClr val="94A3B8"/>
                </a:solidFill>
                <a:latin typeface="Segoe UI"/>
              </a:defRPr>
            </a:pPr>
            <a:r>
              <a:t>Analysis paralysis &amp; anxiety</a:t>
            </a:r>
          </a:p>
        </p:txBody>
      </p:sp>
      <p:sp>
        <p:nvSpPr>
          <p:cNvPr id="10" name="Rounded Rectangle 9"/>
          <p:cNvSpPr/>
          <p:nvPr/>
        </p:nvSpPr>
        <p:spPr>
          <a:xfrm>
            <a:off x="6199632" y="3337560"/>
            <a:ext cx="2514600" cy="128016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150" b="1">
                <a:solidFill>
                  <a:srgbClr val="3B82F6"/>
                </a:solidFill>
                <a:latin typeface="Segoe UI"/>
              </a:defRPr>
            </a:pPr>
            <a:r>
              <a:t>3. Blind Decisions</a:t>
            </a:r>
          </a:p>
          <a:p>
            <a:pPr>
              <a:defRPr sz="850">
                <a:solidFill>
                  <a:srgbClr val="94A3B8"/>
                </a:solidFill>
                <a:latin typeface="Segoe UI"/>
              </a:defRPr>
            </a:pPr>
            <a:r>
              <a:t>Enrolling without career validation</a:t>
            </a:r>
          </a:p>
        </p:txBody>
      </p:sp>
      <p:sp>
        <p:nvSpPr>
          <p:cNvPr id="11" name="Rounded Rectangle 10"/>
          <p:cNvSpPr/>
          <p:nvPr/>
        </p:nvSpPr>
        <p:spPr>
          <a:xfrm>
            <a:off x="8933688" y="3337560"/>
            <a:ext cx="2514600" cy="128016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150" b="1">
                <a:solidFill>
                  <a:srgbClr val="EF4444"/>
                </a:solidFill>
                <a:latin typeface="Segoe UI"/>
              </a:defRPr>
            </a:pPr>
            <a:r>
              <a:t>4. High Life Cost</a:t>
            </a:r>
          </a:p>
          <a:p>
            <a:pPr>
              <a:defRPr sz="850">
                <a:solidFill>
                  <a:srgbClr val="94A3B8"/>
                </a:solidFill>
                <a:latin typeface="Segoe UI"/>
              </a:defRPr>
            </a:pPr>
            <a:r>
              <a:t>Degree regret, dropout &amp; underemployment</a:t>
            </a:r>
          </a:p>
        </p:txBody>
      </p:sp>
      <p:sp>
        <p:nvSpPr>
          <p:cNvPr id="12" name="Rounded Rectangle 11"/>
          <p:cNvSpPr/>
          <p:nvPr/>
        </p:nvSpPr>
        <p:spPr>
          <a:xfrm>
            <a:off x="731520" y="4892040"/>
            <a:ext cx="10728655" cy="132588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2000" b="1">
                <a:solidFill>
                  <a:srgbClr val="F59E0B"/>
                </a:solidFill>
                <a:latin typeface="Segoe UI"/>
              </a:defRPr>
            </a:pPr>
            <a:r>
              <a:t>"Too much information. Too little direction."</a:t>
            </a:r>
          </a:p>
          <a:p>
            <a:pPr>
              <a:defRPr sz="1100">
                <a:solidFill>
                  <a:srgbClr val="F1F5F9"/>
                </a:solidFill>
                <a:latin typeface="Segoe UI"/>
              </a:defRPr>
            </a:pPr>
            <a:r>
              <a:t>Raw search engines return 10 million links. Generic AI chatbots hallucinate ungrounded advice. Students need a personalized operating system.</a:t>
            </a:r>
          </a:p>
        </p:txBody>
      </p:sp>
      <p:sp>
        <p:nvSpPr>
          <p:cNvPr id="13" name="TextBox 12"/>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Source: README.md §'The Real Problem' &amp; Pakistan Knowledge Engine Research (Docs/pakistan_knowledge_engine.md)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THE TRANSFORMATION</a:t>
            </a:r>
          </a:p>
          <a:p>
            <a:pPr>
              <a:spcAft>
                <a:spcPts val="200"/>
              </a:spcAft>
              <a:defRPr sz="2400" b="1">
                <a:solidFill>
                  <a:srgbClr val="F1F5F9"/>
                </a:solidFill>
                <a:latin typeface="Segoe UI"/>
              </a:defRPr>
            </a:pPr>
            <a:r>
              <a:t>Career OS Turns Information Into a Path</a:t>
            </a:r>
          </a:p>
          <a:p>
            <a:pPr>
              <a:defRPr sz="1150">
                <a:solidFill>
                  <a:srgbClr val="94A3B8"/>
                </a:solidFill>
                <a:latin typeface="Segoe UI"/>
              </a:defRPr>
            </a:pPr>
            <a:r>
              <a:t>A direct architectural comparison between disconnected traditional discovery and our structured operating system.</a:t>
            </a:r>
          </a:p>
        </p:txBody>
      </p:sp>
      <p:sp>
        <p:nvSpPr>
          <p:cNvPr id="4" name="Rounded Rectangle 3"/>
          <p:cNvSpPr/>
          <p:nvPr/>
        </p:nvSpPr>
        <p:spPr>
          <a:xfrm>
            <a:off x="731520" y="1554480"/>
            <a:ext cx="5166360" cy="3977639"/>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200" b="1">
                <a:solidFill>
                  <a:srgbClr val="EF4444"/>
                </a:solidFill>
                <a:latin typeface="Segoe UI"/>
              </a:defRPr>
            </a:pPr>
            <a:r>
              <a:t>TRADITIONAL SEARCH &amp; CHAT (DISCONNECTED)</a:t>
            </a:r>
          </a:p>
          <a:p>
            <a:pPr>
              <a:spcAft>
                <a:spcPts val="800"/>
              </a:spcAft>
              <a:defRPr sz="1000">
                <a:solidFill>
                  <a:srgbClr val="94A3B8"/>
                </a:solidFill>
                <a:latin typeface="Segoe UI"/>
              </a:defRPr>
            </a:pPr>
            <a:r>
              <a:t>✗  Raw Keyword Search: Returns millions of unstructured web documents with zero personal relevance to city or stage.</a:t>
            </a:r>
          </a:p>
          <a:p>
            <a:pPr>
              <a:spcAft>
                <a:spcPts val="800"/>
              </a:spcAft>
              <a:defRPr sz="1000">
                <a:solidFill>
                  <a:srgbClr val="94A3B8"/>
                </a:solidFill>
                <a:latin typeface="Segoe UI"/>
              </a:defRPr>
            </a:pPr>
            <a:r>
              <a:t>✗  Open-Ended AI Chatbots: Hallucinates salary bands, invents admission deadlines, and lacks grounded Pakistani context.</a:t>
            </a:r>
          </a:p>
          <a:p>
            <a:pPr>
              <a:spcAft>
                <a:spcPts val="800"/>
              </a:spcAft>
              <a:defRPr sz="1000">
                <a:solidFill>
                  <a:srgbClr val="94A3B8"/>
                </a:solidFill>
                <a:latin typeface="Segoe UI"/>
              </a:defRPr>
            </a:pPr>
            <a:r>
              <a:t>✗  Disconnected Portals: Student must manually cross-reference 200+ university sites and provincial education boards.</a:t>
            </a:r>
          </a:p>
          <a:p>
            <a:pPr>
              <a:spcAft>
                <a:spcPts val="800"/>
              </a:spcAft>
              <a:defRPr sz="1000">
                <a:solidFill>
                  <a:srgbClr val="94A3B8"/>
                </a:solidFill>
                <a:latin typeface="Segoe UI"/>
              </a:defRPr>
            </a:pPr>
            <a:r>
              <a:t>✗  No Aptitude Validation: Students commit four years and tuition fees before writing a line of code or testing the work.</a:t>
            </a:r>
          </a:p>
          <a:p>
            <a:pPr>
              <a:spcAft>
                <a:spcPts val="800"/>
              </a:spcAft>
              <a:defRPr sz="1000">
                <a:solidFill>
                  <a:srgbClr val="94A3B8"/>
                </a:solidFill>
                <a:latin typeface="Segoe UI"/>
              </a:defRPr>
            </a:pPr>
            <a:r>
              <a:t>✗  Dead-End Experience: Ends with unstructured links, leaving the student anxious about what immediate action to take.</a:t>
            </a:r>
          </a:p>
        </p:txBody>
      </p:sp>
      <p:sp>
        <p:nvSpPr>
          <p:cNvPr id="5" name="Rounded Rectangle 4"/>
          <p:cNvSpPr/>
          <p:nvPr/>
        </p:nvSpPr>
        <p:spPr>
          <a:xfrm>
            <a:off x="6263640" y="1554480"/>
            <a:ext cx="5193792" cy="3977639"/>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200" b="1">
                <a:solidFill>
                  <a:srgbClr val="10B981"/>
                </a:solidFill>
                <a:latin typeface="Segoe UI"/>
              </a:defRPr>
            </a:pPr>
            <a:r>
              <a:t>CAREER OS (THE SEQUENTIAL OPERATING SYSTEM)</a:t>
            </a:r>
          </a:p>
          <a:p>
            <a:pPr>
              <a:spcAft>
                <a:spcPts val="800"/>
              </a:spcAft>
              <a:defRPr sz="1000">
                <a:solidFill>
                  <a:srgbClr val="94A3B8"/>
                </a:solidFill>
                <a:latin typeface="Segoe UI"/>
              </a:defRPr>
            </a:pPr>
            <a:r>
              <a:t>✓  5-D Structured Profile: Tailored to Education Stage, City, Baseline Skills, Motivations, and Sports Interests.</a:t>
            </a:r>
          </a:p>
          <a:p>
            <a:pPr>
              <a:spcAft>
                <a:spcPts val="800"/>
              </a:spcAft>
              <a:defRPr sz="1000">
                <a:solidFill>
                  <a:srgbClr val="F1F5F9"/>
                </a:solidFill>
                <a:latin typeface="Segoe UI"/>
              </a:defRPr>
            </a:pPr>
            <a:r>
              <a:t>✓  Grounded Reality Check: Evaluates real Pakistani employer expectations, local competition, and PKR salary bands.</a:t>
            </a:r>
          </a:p>
          <a:p>
            <a:pPr>
              <a:spcAft>
                <a:spcPts val="800"/>
              </a:spcAft>
              <a:defRPr sz="1000">
                <a:solidFill>
                  <a:srgbClr val="F1F5F9"/>
                </a:solidFill>
                <a:latin typeface="Segoe UI"/>
              </a:defRPr>
            </a:pPr>
            <a:r>
              <a:t>✓  7-Day Practical Career Trial: Daily hands-on micro-tasks validate genuine interest before tuition commitment.</a:t>
            </a:r>
          </a:p>
          <a:p>
            <a:pPr>
              <a:spcAft>
                <a:spcPts val="800"/>
              </a:spcAft>
              <a:defRPr sz="1000">
                <a:solidFill>
                  <a:srgbClr val="94A3B8"/>
                </a:solidFill>
                <a:latin typeface="Segoe UI"/>
              </a:defRPr>
            </a:pPr>
            <a:r>
              <a:t>✓  248 HEC Institutions: Direct alignment with accredited Pakistani universities, degree fees, and entry tests.</a:t>
            </a:r>
          </a:p>
          <a:p>
            <a:pPr>
              <a:spcAft>
                <a:spcPts val="800"/>
              </a:spcAft>
              <a:defRPr sz="1000">
                <a:solidFill>
                  <a:srgbClr val="94A3B8"/>
                </a:solidFill>
                <a:latin typeface="Segoe UI"/>
              </a:defRPr>
            </a:pPr>
            <a:r>
              <a:t>✓  Closing the Employability Gap: 86 curated learning resources and Qwen technical mock interviews prepare students for hiring.</a:t>
            </a:r>
          </a:p>
        </p:txBody>
      </p:sp>
      <p:sp>
        <p:nvSpPr>
          <p:cNvPr id="6" name="Rounded Rectangle 5"/>
          <p:cNvSpPr/>
          <p:nvPr/>
        </p:nvSpPr>
        <p:spPr>
          <a:xfrm>
            <a:off x="731520" y="5715000"/>
            <a:ext cx="10728655" cy="5943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B82F6"/>
                </a:solidFill>
                <a:latin typeface="Segoe UI"/>
              </a:defRPr>
            </a:pPr>
            <a:r>
              <a:t>Profile   ➔   Reality Check   ➔   7-Day Trial   ➔   University Match   ➔   Skill Building   ➔   Mock Interview   ➔   First Job</a:t>
            </a:r>
          </a:p>
        </p:txBody>
      </p:sp>
      <p:sp>
        <p:nvSpPr>
          <p:cNvPr id="7" name="TextBox 6"/>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Source: README.md §'The Solution' &amp; Architecture Master Specification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THE PRODUCT PIPELINE</a:t>
            </a:r>
          </a:p>
          <a:p>
            <a:pPr>
              <a:spcAft>
                <a:spcPts val="200"/>
              </a:spcAft>
              <a:defRPr sz="2400" b="1">
                <a:solidFill>
                  <a:srgbClr val="F1F5F9"/>
                </a:solidFill>
                <a:latin typeface="Segoe UI"/>
              </a:defRPr>
            </a:pPr>
            <a:r>
              <a:t>One Student. One Continuous Journey.</a:t>
            </a:r>
          </a:p>
          <a:p>
            <a:pPr>
              <a:defRPr sz="1150">
                <a:solidFill>
                  <a:srgbClr val="94A3B8"/>
                </a:solidFill>
                <a:latin typeface="Segoe UI"/>
              </a:defRPr>
            </a:pPr>
            <a:r>
              <a:t>A 9-stage sequential operating system guiding Pakistani youth from high school exploration to employment.</a:t>
            </a:r>
          </a:p>
        </p:txBody>
      </p:sp>
      <p:sp>
        <p:nvSpPr>
          <p:cNvPr id="4" name="Rounded Rectangle 3"/>
          <p:cNvSpPr/>
          <p:nvPr/>
        </p:nvSpPr>
        <p:spPr>
          <a:xfrm>
            <a:off x="731520" y="1554480"/>
            <a:ext cx="1993392" cy="178308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3B82F6"/>
                </a:solidFill>
                <a:latin typeface="Segoe UI"/>
              </a:defRPr>
            </a:pPr>
            <a:r>
              <a:t>01  ·  Onboarding</a:t>
            </a:r>
          </a:p>
          <a:p>
            <a:pPr>
              <a:defRPr sz="880">
                <a:solidFill>
                  <a:srgbClr val="94A3B8"/>
                </a:solidFill>
                <a:latin typeface="Segoe UI"/>
              </a:defRPr>
            </a:pPr>
            <a:r>
              <a:t>7-step profile: stage, city, skills, motivations</a:t>
            </a:r>
          </a:p>
        </p:txBody>
      </p:sp>
      <p:sp>
        <p:nvSpPr>
          <p:cNvPr id="5" name="Rounded Rectangle 4"/>
          <p:cNvSpPr/>
          <p:nvPr/>
        </p:nvSpPr>
        <p:spPr>
          <a:xfrm>
            <a:off x="2907792" y="1554480"/>
            <a:ext cx="1993392" cy="178308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3B82F6"/>
                </a:solidFill>
                <a:latin typeface="Segoe UI"/>
              </a:defRPr>
            </a:pPr>
            <a:r>
              <a:t>02  ·  Discovery</a:t>
            </a:r>
          </a:p>
          <a:p>
            <a:pPr>
              <a:defRPr sz="880">
                <a:solidFill>
                  <a:srgbClr val="94A3B8"/>
                </a:solidFill>
                <a:latin typeface="Segoe UI"/>
              </a:defRPr>
            </a:pPr>
            <a:r>
              <a:t>22 Pakistani pathways across Tech, Business, Health</a:t>
            </a:r>
          </a:p>
        </p:txBody>
      </p:sp>
      <p:sp>
        <p:nvSpPr>
          <p:cNvPr id="6" name="Rounded Rectangle 5"/>
          <p:cNvSpPr/>
          <p:nvPr/>
        </p:nvSpPr>
        <p:spPr>
          <a:xfrm>
            <a:off x="5084064" y="1554480"/>
            <a:ext cx="1993392" cy="1783080"/>
          </a:xfrm>
          <a:prstGeom prst="roundRect">
            <a:avLst/>
          </a:prstGeom>
          <a:solidFill>
            <a:srgbClr val="111827"/>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F59E0B"/>
                </a:solidFill>
                <a:latin typeface="Segoe UI"/>
              </a:defRPr>
            </a:pPr>
            <a:r>
              <a:t>03  ·  Reality Check</a:t>
            </a:r>
          </a:p>
          <a:p>
            <a:pPr>
              <a:defRPr sz="880">
                <a:solidFill>
                  <a:srgbClr val="94A3B8"/>
                </a:solidFill>
                <a:latin typeface="Segoe UI"/>
              </a:defRPr>
            </a:pPr>
            <a:r>
              <a:t>PKR salary bands, market demand &amp; sector risks</a:t>
            </a:r>
          </a:p>
        </p:txBody>
      </p:sp>
      <p:sp>
        <p:nvSpPr>
          <p:cNvPr id="7" name="Rounded Rectangle 6"/>
          <p:cNvSpPr/>
          <p:nvPr/>
        </p:nvSpPr>
        <p:spPr>
          <a:xfrm>
            <a:off x="7260336" y="1554480"/>
            <a:ext cx="1993392" cy="1783080"/>
          </a:xfrm>
          <a:prstGeom prst="roundRect">
            <a:avLst/>
          </a:prstGeom>
          <a:solidFill>
            <a:srgbClr val="111827"/>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F59E0B"/>
                </a:solidFill>
                <a:latin typeface="Segoe UI"/>
              </a:defRPr>
            </a:pPr>
            <a:r>
              <a:t>04  ·  7-Day Trial</a:t>
            </a:r>
          </a:p>
          <a:p>
            <a:pPr>
              <a:defRPr sz="880">
                <a:solidFill>
                  <a:srgbClr val="94A3B8"/>
                </a:solidFill>
                <a:latin typeface="Segoe UI"/>
              </a:defRPr>
            </a:pPr>
            <a:r>
              <a:t>Daily micro-tasks test-drive work before enrolling</a:t>
            </a:r>
          </a:p>
        </p:txBody>
      </p:sp>
      <p:sp>
        <p:nvSpPr>
          <p:cNvPr id="8" name="Rounded Rectangle 7"/>
          <p:cNvSpPr/>
          <p:nvPr/>
        </p:nvSpPr>
        <p:spPr>
          <a:xfrm>
            <a:off x="9436608" y="1554480"/>
            <a:ext cx="1993392" cy="178308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3B82F6"/>
                </a:solidFill>
                <a:latin typeface="Segoe UI"/>
              </a:defRPr>
            </a:pPr>
            <a:r>
              <a:t>05  ·  Universities</a:t>
            </a:r>
          </a:p>
          <a:p>
            <a:pPr>
              <a:defRPr sz="880">
                <a:solidFill>
                  <a:srgbClr val="94A3B8"/>
                </a:solidFill>
                <a:latin typeface="Segoe UI"/>
              </a:defRPr>
            </a:pPr>
            <a:r>
              <a:t>248 HEC universities &amp; 210 degree programs</a:t>
            </a:r>
          </a:p>
        </p:txBody>
      </p:sp>
      <p:sp>
        <p:nvSpPr>
          <p:cNvPr id="9" name="Rounded Rectangle 8"/>
          <p:cNvSpPr/>
          <p:nvPr/>
        </p:nvSpPr>
        <p:spPr>
          <a:xfrm>
            <a:off x="731520" y="3520440"/>
            <a:ext cx="2514600" cy="178308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3B82F6"/>
                </a:solidFill>
                <a:latin typeface="Segoe UI"/>
              </a:defRPr>
            </a:pPr>
            <a:r>
              <a:t>06  ·  Skill Building</a:t>
            </a:r>
          </a:p>
          <a:p>
            <a:pPr>
              <a:defRPr sz="900">
                <a:solidFill>
                  <a:srgbClr val="94A3B8"/>
                </a:solidFill>
                <a:latin typeface="Segoe UI"/>
              </a:defRPr>
            </a:pPr>
            <a:r>
              <a:t>86 curated technical &amp; vocational resources</a:t>
            </a:r>
          </a:p>
        </p:txBody>
      </p:sp>
      <p:sp>
        <p:nvSpPr>
          <p:cNvPr id="10" name="Rounded Rectangle 9"/>
          <p:cNvSpPr/>
          <p:nvPr/>
        </p:nvSpPr>
        <p:spPr>
          <a:xfrm>
            <a:off x="3465576" y="3520440"/>
            <a:ext cx="2514600" cy="178308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3B82F6"/>
                </a:solidFill>
                <a:latin typeface="Segoe UI"/>
              </a:defRPr>
            </a:pPr>
            <a:r>
              <a:t>07  ·  Opportunities</a:t>
            </a:r>
          </a:p>
          <a:p>
            <a:pPr>
              <a:defRPr sz="900">
                <a:solidFill>
                  <a:srgbClr val="94A3B8"/>
                </a:solidFill>
                <a:latin typeface="Segoe UI"/>
              </a:defRPr>
            </a:pPr>
            <a:r>
              <a:t>38 verified national scholarships &amp; internships</a:t>
            </a:r>
          </a:p>
        </p:txBody>
      </p:sp>
      <p:sp>
        <p:nvSpPr>
          <p:cNvPr id="11" name="Rounded Rectangle 10"/>
          <p:cNvSpPr/>
          <p:nvPr/>
        </p:nvSpPr>
        <p:spPr>
          <a:xfrm>
            <a:off x="6199632" y="3520440"/>
            <a:ext cx="2514600" cy="1783080"/>
          </a:xfrm>
          <a:prstGeom prst="roundRect">
            <a:avLst/>
          </a:prstGeom>
          <a:solidFill>
            <a:srgbClr val="111827"/>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10B981"/>
                </a:solidFill>
                <a:latin typeface="Segoe UI"/>
              </a:defRPr>
            </a:pPr>
            <a:r>
              <a:t>08  ·  Mock Screening</a:t>
            </a:r>
          </a:p>
          <a:p>
            <a:pPr>
              <a:defRPr sz="900">
                <a:solidFill>
                  <a:srgbClr val="94A3B8"/>
                </a:solidFill>
                <a:latin typeface="Segoe UI"/>
              </a:defRPr>
            </a:pPr>
            <a:r>
              <a:t>10-question technical interview via Qwen 3.6-plus</a:t>
            </a:r>
          </a:p>
        </p:txBody>
      </p:sp>
      <p:sp>
        <p:nvSpPr>
          <p:cNvPr id="12" name="Rounded Rectangle 11"/>
          <p:cNvSpPr/>
          <p:nvPr/>
        </p:nvSpPr>
        <p:spPr>
          <a:xfrm>
            <a:off x="8933688" y="3520440"/>
            <a:ext cx="2514600" cy="178308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10B981"/>
                </a:solidFill>
                <a:latin typeface="Segoe UI"/>
              </a:defRPr>
            </a:pPr>
            <a:r>
              <a:t>09  ·  First Job</a:t>
            </a:r>
          </a:p>
          <a:p>
            <a:pPr>
              <a:defRPr sz="900">
                <a:solidFill>
                  <a:srgbClr val="94A3B8"/>
                </a:solidFill>
                <a:latin typeface="Segoe UI"/>
              </a:defRPr>
            </a:pPr>
            <a:r>
              <a:t>Career launch with verified skills &amp; portfolio</a:t>
            </a:r>
          </a:p>
        </p:txBody>
      </p:sp>
      <p:sp>
        <p:nvSpPr>
          <p:cNvPr id="13" name="Rounded Rectangle 12"/>
          <p:cNvSpPr/>
          <p:nvPr/>
        </p:nvSpPr>
        <p:spPr>
          <a:xfrm>
            <a:off x="731520" y="5577840"/>
            <a:ext cx="10728655" cy="73152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1F5F9"/>
                </a:solidFill>
                <a:latin typeface="Segoe UI"/>
              </a:defRPr>
            </a:pPr>
            <a:r>
              <a:t>KEY INVARIANT: Every stage is sequential and gated. Students validate genuine aptitude and market reality before spending years in tuition.</a:t>
            </a:r>
          </a:p>
        </p:txBody>
      </p:sp>
      <p:sp>
        <p:nvSpPr>
          <p:cNvPr id="14" name="TextBox 13"/>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Source: README.md lines 44–66 &amp; BackEnd/services/roadmap_service.py (MILESTONE_TEMPLATES)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STAGE 1: PRECISION PROFILING</a:t>
            </a:r>
          </a:p>
          <a:p>
            <a:pPr>
              <a:spcAft>
                <a:spcPts val="200"/>
              </a:spcAft>
              <a:defRPr sz="2400" b="1">
                <a:solidFill>
                  <a:srgbClr val="F1F5F9"/>
                </a:solidFill>
                <a:latin typeface="Segoe UI"/>
              </a:defRPr>
            </a:pPr>
            <a:r>
              <a:t>Start With the Student, Not the Search.</a:t>
            </a:r>
          </a:p>
          <a:p>
            <a:pPr>
              <a:defRPr sz="1150">
                <a:solidFill>
                  <a:srgbClr val="94A3B8"/>
                </a:solidFill>
                <a:latin typeface="Segoe UI"/>
              </a:defRPr>
            </a:pPr>
            <a:r>
              <a:t>Controlled 7-step onboarding wizard captures real student constraints without conversational ambiguity.</a:t>
            </a:r>
          </a:p>
        </p:txBody>
      </p:sp>
      <p:sp>
        <p:nvSpPr>
          <p:cNvPr id="4" name="Rounded Rectangle 3"/>
          <p:cNvSpPr/>
          <p:nvPr/>
        </p:nvSpPr>
        <p:spPr>
          <a:xfrm>
            <a:off x="704088" y="1527048"/>
            <a:ext cx="3163824" cy="2506159"/>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2_onboarding_step1.png"/>
          <p:cNvPicPr>
            <a:picLocks noChangeAspect="1"/>
          </p:cNvPicPr>
          <p:nvPr/>
        </p:nvPicPr>
        <p:blipFill>
          <a:blip r:embed="rId3"/>
          <a:stretch>
            <a:fillRect/>
          </a:stretch>
        </p:blipFill>
        <p:spPr>
          <a:xfrm>
            <a:off x="731520" y="1554480"/>
            <a:ext cx="3108960" cy="2451295"/>
          </a:xfrm>
          <a:prstGeom prst="rect">
            <a:avLst/>
          </a:prstGeom>
        </p:spPr>
      </p:pic>
      <p:sp>
        <p:nvSpPr>
          <p:cNvPr id="6" name="Rounded Rectangle 5"/>
          <p:cNvSpPr/>
          <p:nvPr/>
        </p:nvSpPr>
        <p:spPr>
          <a:xfrm>
            <a:off x="3950207" y="1527048"/>
            <a:ext cx="3163824" cy="2506159"/>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_onboarding_location.png"/>
          <p:cNvPicPr>
            <a:picLocks noChangeAspect="1"/>
          </p:cNvPicPr>
          <p:nvPr/>
        </p:nvPicPr>
        <p:blipFill>
          <a:blip r:embed="rId4"/>
          <a:stretch>
            <a:fillRect/>
          </a:stretch>
        </p:blipFill>
        <p:spPr>
          <a:xfrm>
            <a:off x="3977639" y="1554480"/>
            <a:ext cx="3108960" cy="2451295"/>
          </a:xfrm>
          <a:prstGeom prst="rect">
            <a:avLst/>
          </a:prstGeom>
        </p:spPr>
      </p:pic>
      <p:sp>
        <p:nvSpPr>
          <p:cNvPr id="8" name="Rounded Rectangle 7"/>
          <p:cNvSpPr/>
          <p:nvPr/>
        </p:nvSpPr>
        <p:spPr>
          <a:xfrm>
            <a:off x="731520" y="4160520"/>
            <a:ext cx="6355080" cy="201168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050" b="1">
                <a:solidFill>
                  <a:srgbClr val="3B82F6"/>
                </a:solidFill>
                <a:latin typeface="Segoe UI"/>
              </a:defRPr>
            </a:pPr>
            <a:r>
              <a:t>THE 5-DIMENSIONAL STUDENT PROFILE MODEL</a:t>
            </a:r>
          </a:p>
          <a:p>
            <a:pPr>
              <a:defRPr sz="880">
                <a:solidFill>
                  <a:srgbClr val="94A3B8"/>
                </a:solidFill>
                <a:latin typeface="Segoe UI"/>
              </a:defRPr>
            </a:pPr>
            <a:r>
              <a:t>• Education Stage: Matric / O-Level, FSc / A-Level, University (1–4), Fresh Graduate</a:t>
            </a:r>
            <a:br/>
            <a:r>
              <a:t>• Geographic Context: Sindh, Punjab, KPK, Balochistan, ICT &amp; localized city hubs</a:t>
            </a:r>
            <a:br/>
            <a:r>
              <a:t>• Baseline Skills &amp; Proficiencies: Beginner, Intermediate, Advanced technology proficiencies</a:t>
            </a:r>
            <a:br/>
            <a:r>
              <a:t>• Sports Pathways: Quota eligibility tracking across 11 national athletic disciplines</a:t>
            </a:r>
          </a:p>
        </p:txBody>
      </p:sp>
      <p:sp>
        <p:nvSpPr>
          <p:cNvPr id="9" name="Rounded Rectangle 8"/>
          <p:cNvSpPr/>
          <p:nvPr/>
        </p:nvSpPr>
        <p:spPr>
          <a:xfrm>
            <a:off x="7269480" y="1554480"/>
            <a:ext cx="4187952" cy="461772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200" b="1">
                <a:solidFill>
                  <a:srgbClr val="10B981"/>
                </a:solidFill>
                <a:latin typeface="Segoe UI"/>
              </a:defRPr>
            </a:pPr>
            <a:r>
              <a:t>7 CONTROLLED ONBOARDING STEPS</a:t>
            </a:r>
          </a:p>
          <a:p>
            <a:pPr>
              <a:spcAft>
                <a:spcPts val="400"/>
              </a:spcAft>
              <a:defRPr sz="950">
                <a:solidFill>
                  <a:srgbClr val="94A3B8"/>
                </a:solidFill>
                <a:latin typeface="Segoe UI"/>
              </a:defRPr>
            </a:pPr>
            <a:r>
              <a:t>• 1. Education Stage: Matric, FSc, University, Fresh Graduate</a:t>
            </a:r>
          </a:p>
          <a:p>
            <a:pPr>
              <a:spcAft>
                <a:spcPts val="400"/>
              </a:spcAft>
              <a:defRPr sz="950">
                <a:solidFill>
                  <a:srgbClr val="94A3B8"/>
                </a:solidFill>
                <a:latin typeface="Segoe UI"/>
              </a:defRPr>
            </a:pPr>
            <a:r>
              <a:t>• 2. Location: Sindh, Punjab, KPK, Balochistan, ICT &amp; Cities</a:t>
            </a:r>
          </a:p>
          <a:p>
            <a:pPr>
              <a:spcAft>
                <a:spcPts val="400"/>
              </a:spcAft>
              <a:defRPr sz="950">
                <a:solidFill>
                  <a:srgbClr val="94A3B8"/>
                </a:solidFill>
                <a:latin typeface="Segoe UI"/>
              </a:defRPr>
            </a:pPr>
            <a:r>
              <a:t>• 3. Career Goal: Target selection from 22 verified pathways</a:t>
            </a:r>
          </a:p>
          <a:p>
            <a:pPr>
              <a:spcAft>
                <a:spcPts val="400"/>
              </a:spcAft>
              <a:defRPr sz="950">
                <a:solidFill>
                  <a:srgbClr val="94A3B8"/>
                </a:solidFill>
                <a:latin typeface="Segoe UI"/>
              </a:defRPr>
            </a:pPr>
            <a:r>
              <a:t>• 4. Interests: Structured domain tags &amp; custom keywords</a:t>
            </a:r>
          </a:p>
          <a:p>
            <a:pPr>
              <a:spcAft>
                <a:spcPts val="400"/>
              </a:spcAft>
              <a:defRPr sz="950">
                <a:solidFill>
                  <a:srgbClr val="94A3B8"/>
                </a:solidFill>
                <a:latin typeface="Segoe UI"/>
              </a:defRPr>
            </a:pPr>
            <a:r>
              <a:t>• 5. Baseline Skills: Beginner, Intermediate, Advanced proficiencies</a:t>
            </a:r>
          </a:p>
          <a:p>
            <a:pPr>
              <a:spcAft>
                <a:spcPts val="400"/>
              </a:spcAft>
              <a:defRPr sz="950">
                <a:solidFill>
                  <a:srgbClr val="94A3B8"/>
                </a:solidFill>
                <a:latin typeface="Segoe UI"/>
              </a:defRPr>
            </a:pPr>
            <a:r>
              <a:t>• 6. Sports Pathway: Academic focus vs. athletic quotas (11 sports)</a:t>
            </a:r>
          </a:p>
          <a:p>
            <a:pPr>
              <a:spcAft>
                <a:spcPts val="400"/>
              </a:spcAft>
              <a:defRPr sz="950">
                <a:solidFill>
                  <a:srgbClr val="94A3B8"/>
                </a:solidFill>
                <a:latin typeface="Segoe UI"/>
              </a:defRPr>
            </a:pPr>
            <a:r>
              <a:t>• 7. Motivations: High earnings, passion, remote work, stability</a:t>
            </a:r>
          </a:p>
          <a:p>
            <a:pPr>
              <a:defRPr sz="800">
                <a:solidFill>
                  <a:srgbClr val="1E2D42"/>
                </a:solidFill>
              </a:defRPr>
            </a:pPr>
            <a:r>
              <a:t>━━━━━━━━━━━━━━━━━━━━━━━━━━━━</a:t>
            </a:r>
          </a:p>
          <a:p>
            <a:pPr>
              <a:defRPr sz="950" b="1">
                <a:solidFill>
                  <a:srgbClr val="F1F5F9"/>
                </a:solidFill>
                <a:latin typeface="Segoe UI"/>
              </a:defRPr>
            </a:pPr>
            <a:r>
              <a:t>Backend Result: Instantiates 13 sequenced milestones in SQLite and evaluates first Next Best Action via Qwen 3.6-plus.</a:t>
            </a:r>
          </a:p>
        </p:txBody>
      </p:sp>
      <p:sp>
        <p:nvSpPr>
          <p:cNvPr id="10" name="TextBox 9"/>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Captured from live deployment: https://career-os-seven-flame.vercel.app/onboarding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THE STUDENT COCKPIT</a:t>
            </a:r>
          </a:p>
          <a:p>
            <a:pPr>
              <a:spcAft>
                <a:spcPts val="200"/>
              </a:spcAft>
              <a:defRPr sz="2400" b="1">
                <a:solidFill>
                  <a:srgbClr val="F1F5F9"/>
                </a:solidFill>
                <a:latin typeface="Segoe UI"/>
              </a:defRPr>
            </a:pPr>
            <a:r>
              <a:t>The Journey Is the Operating System</a:t>
            </a:r>
          </a:p>
          <a:p>
            <a:pPr>
              <a:defRPr sz="1150">
                <a:solidFill>
                  <a:srgbClr val="94A3B8"/>
                </a:solidFill>
                <a:latin typeface="Segoe UI"/>
              </a:defRPr>
            </a:pPr>
            <a:r>
              <a:t>Progressive disclosure state machine: One active next step at a time, backed by sub-15ms cached roadmap retrieval.</a:t>
            </a:r>
          </a:p>
        </p:txBody>
      </p:sp>
      <p:sp>
        <p:nvSpPr>
          <p:cNvPr id="4" name="Rounded Rectangle 3"/>
          <p:cNvSpPr/>
          <p:nvPr/>
        </p:nvSpPr>
        <p:spPr>
          <a:xfrm>
            <a:off x="704088" y="1527048"/>
            <a:ext cx="6455664" cy="4255389"/>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3_journey.png"/>
          <p:cNvPicPr>
            <a:picLocks noChangeAspect="1"/>
          </p:cNvPicPr>
          <p:nvPr/>
        </p:nvPicPr>
        <p:blipFill>
          <a:blip r:embed="rId3"/>
          <a:stretch>
            <a:fillRect/>
          </a:stretch>
        </p:blipFill>
        <p:spPr>
          <a:xfrm>
            <a:off x="731520" y="1554480"/>
            <a:ext cx="6400800" cy="4200525"/>
          </a:xfrm>
          <a:prstGeom prst="rect">
            <a:avLst/>
          </a:prstGeom>
        </p:spPr>
      </p:pic>
      <p:sp>
        <p:nvSpPr>
          <p:cNvPr id="6" name="Rounded Rectangle 5"/>
          <p:cNvSpPr/>
          <p:nvPr/>
        </p:nvSpPr>
        <p:spPr>
          <a:xfrm>
            <a:off x="7315200" y="1554480"/>
            <a:ext cx="4142232" cy="461772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200" b="1">
                <a:solidFill>
                  <a:srgbClr val="3B82F6"/>
                </a:solidFill>
                <a:latin typeface="Segoe UI"/>
              </a:defRPr>
            </a:pPr>
            <a:r>
              <a:t>PROGRESSIVE DISCLOSURE ARCHITECTURE</a:t>
            </a:r>
          </a:p>
          <a:p>
            <a:pPr>
              <a:spcAft>
                <a:spcPts val="600"/>
              </a:spcAft>
              <a:defRPr sz="1000" b="1">
                <a:solidFill>
                  <a:srgbClr val="10B981"/>
                </a:solidFill>
                <a:latin typeface="Segoe UI"/>
              </a:defRPr>
            </a:pPr>
            <a:r>
              <a:t>✓ COMPLETED: Milestones validated &amp; logged in student profile.</a:t>
            </a:r>
          </a:p>
          <a:p>
            <a:pPr>
              <a:spcAft>
                <a:spcPts val="600"/>
              </a:spcAft>
              <a:defRPr sz="1000" b="1">
                <a:solidFill>
                  <a:srgbClr val="3B82F6"/>
                </a:solidFill>
                <a:latin typeface="Segoe UI"/>
              </a:defRPr>
            </a:pPr>
            <a:r>
              <a:t>▶ ACTIVE FOCUS: Single actionable step (e.g. Start 7-Day Trial).</a:t>
            </a:r>
          </a:p>
          <a:p>
            <a:pPr>
              <a:spcAft>
                <a:spcPts val="600"/>
              </a:spcAft>
              <a:defRPr sz="1000" b="1">
                <a:solidFill>
                  <a:srgbClr val="94A3B8"/>
                </a:solidFill>
                <a:latin typeface="Segoe UI"/>
              </a:defRPr>
            </a:pPr>
            <a:r>
              <a:t>🔒 LOCKED: Future steps hidden to prevent decision fatigue.</a:t>
            </a:r>
          </a:p>
          <a:p>
            <a:pPr>
              <a:spcAft>
                <a:spcPts val="600"/>
              </a:spcAft>
              <a:defRPr sz="1000" b="1">
                <a:solidFill>
                  <a:srgbClr val="F59E0B"/>
                </a:solidFill>
                <a:latin typeface="Segoe UI"/>
              </a:defRPr>
            </a:pPr>
            <a:r>
              <a:t>★ LAUNCHPAD: Terminal stage unlocked upon journey completion.</a:t>
            </a:r>
          </a:p>
          <a:p>
            <a:pPr>
              <a:defRPr sz="800">
                <a:solidFill>
                  <a:srgbClr val="1E2D42"/>
                </a:solidFill>
              </a:defRPr>
            </a:pPr>
            <a:r>
              <a:t>━━━━━━━━━━━━━━━━━━━━━━━━━━━━</a:t>
            </a:r>
          </a:p>
          <a:p>
            <a:pPr>
              <a:spcAft>
                <a:spcPts val="400"/>
              </a:spcAft>
              <a:defRPr sz="900">
                <a:solidFill>
                  <a:srgbClr val="94A3B8"/>
                </a:solidFill>
                <a:latin typeface="Segoe UI"/>
              </a:defRPr>
            </a:pPr>
            <a:r>
              <a:t>• Zero Duplicate Milestones: Verified 0 duplicates via DB migration and seen_titles filter (24 passing tests).</a:t>
            </a:r>
          </a:p>
          <a:p>
            <a:pPr>
              <a:spcAft>
                <a:spcPts val="400"/>
              </a:spcAft>
              <a:defRPr sz="900">
                <a:solidFill>
                  <a:srgbClr val="94A3B8"/>
                </a:solidFill>
                <a:latin typeface="Segoe UI"/>
              </a:defRPr>
            </a:pPr>
            <a:r>
              <a:t>• Synchronous Advancement: Completing trial or reality check automatically advances active roadmap focus.</a:t>
            </a:r>
          </a:p>
          <a:p>
            <a:pPr>
              <a:spcAft>
                <a:spcPts val="400"/>
              </a:spcAft>
              <a:defRPr sz="900">
                <a:solidFill>
                  <a:srgbClr val="94A3B8"/>
                </a:solidFill>
                <a:latin typeface="Segoe UI"/>
              </a:defRPr>
            </a:pPr>
            <a:r>
              <a:t>• 11.17 ms Retrieval Latency: Next Best Action pre-computed and cached; eliminates redundant LLM round-trips.</a:t>
            </a:r>
          </a:p>
        </p:txBody>
      </p:sp>
      <p:sp>
        <p:nvSpPr>
          <p:cNvPr id="7" name="TextBox 6"/>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Captured from live deployment: https://career-os-seven-flame.vercel.app/journey · Benchmark: 11.17 ms avg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STAGE 2: VALIDATION</a:t>
            </a:r>
          </a:p>
          <a:p>
            <a:pPr>
              <a:spcAft>
                <a:spcPts val="200"/>
              </a:spcAft>
              <a:defRPr sz="2400" b="1">
                <a:solidFill>
                  <a:srgbClr val="F1F5F9"/>
                </a:solidFill>
                <a:latin typeface="Segoe UI"/>
              </a:defRPr>
            </a:pPr>
            <a:r>
              <a:t>Before You Commit, Test the Career.</a:t>
            </a:r>
          </a:p>
          <a:p>
            <a:pPr>
              <a:defRPr sz="1150">
                <a:solidFill>
                  <a:srgbClr val="94A3B8"/>
                </a:solidFill>
                <a:latin typeface="Segoe UI"/>
              </a:defRPr>
            </a:pPr>
            <a:r>
              <a:t>Grounding student expectations in verified Pakistani market realities, followed by hands-on 7-day trials.</a:t>
            </a:r>
          </a:p>
        </p:txBody>
      </p:sp>
      <p:sp>
        <p:nvSpPr>
          <p:cNvPr id="4" name="Rounded Rectangle 3"/>
          <p:cNvSpPr/>
          <p:nvPr/>
        </p:nvSpPr>
        <p:spPr>
          <a:xfrm>
            <a:off x="704088" y="1527048"/>
            <a:ext cx="5221224" cy="3445287"/>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_reality_check.png"/>
          <p:cNvPicPr>
            <a:picLocks noChangeAspect="1"/>
          </p:cNvPicPr>
          <p:nvPr/>
        </p:nvPicPr>
        <p:blipFill>
          <a:blip r:embed="rId3"/>
          <a:stretch>
            <a:fillRect/>
          </a:stretch>
        </p:blipFill>
        <p:spPr>
          <a:xfrm>
            <a:off x="731520" y="1554480"/>
            <a:ext cx="5166360" cy="3390424"/>
          </a:xfrm>
          <a:prstGeom prst="rect">
            <a:avLst/>
          </a:prstGeom>
        </p:spPr>
      </p:pic>
      <p:sp>
        <p:nvSpPr>
          <p:cNvPr id="6" name="Rounded Rectangle 5"/>
          <p:cNvSpPr/>
          <p:nvPr/>
        </p:nvSpPr>
        <p:spPr>
          <a:xfrm>
            <a:off x="731520" y="5166360"/>
            <a:ext cx="5166360" cy="100584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9E0B"/>
                </a:solidFill>
                <a:latin typeface="Segoe UI"/>
              </a:defRPr>
            </a:pPr>
            <a:r>
              <a:t>REALITY CHECK: Software Engineer PKR 70k–120k entry salary · High demand · High admission cutoffs</a:t>
            </a:r>
          </a:p>
        </p:txBody>
      </p:sp>
      <p:sp>
        <p:nvSpPr>
          <p:cNvPr id="7" name="Rounded Rectangle 6"/>
          <p:cNvSpPr/>
          <p:nvPr/>
        </p:nvSpPr>
        <p:spPr>
          <a:xfrm>
            <a:off x="6236207" y="1527048"/>
            <a:ext cx="5248655" cy="346329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6_seven_day_trial.png"/>
          <p:cNvPicPr>
            <a:picLocks noChangeAspect="1"/>
          </p:cNvPicPr>
          <p:nvPr/>
        </p:nvPicPr>
        <p:blipFill>
          <a:blip r:embed="rId4"/>
          <a:stretch>
            <a:fillRect/>
          </a:stretch>
        </p:blipFill>
        <p:spPr>
          <a:xfrm>
            <a:off x="6263640" y="1554480"/>
            <a:ext cx="5193792" cy="3408426"/>
          </a:xfrm>
          <a:prstGeom prst="rect">
            <a:avLst/>
          </a:prstGeom>
        </p:spPr>
      </p:pic>
      <p:sp>
        <p:nvSpPr>
          <p:cNvPr id="9" name="Rounded Rectangle 8"/>
          <p:cNvSpPr/>
          <p:nvPr/>
        </p:nvSpPr>
        <p:spPr>
          <a:xfrm>
            <a:off x="6263640" y="5166360"/>
            <a:ext cx="5193792" cy="100584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latin typeface="Segoe UI"/>
              </a:defRPr>
            </a:pPr>
            <a:r>
              <a:t>7-DAY TRIAL: Day-by-day practical micro-tasks · Reflection prompts · Bi-directional journey sync</a:t>
            </a:r>
          </a:p>
        </p:txBody>
      </p:sp>
      <p:sp>
        <p:nvSpPr>
          <p:cNvPr id="10" name="TextBox 9"/>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Captured from live deployment: /careers/software-engineering/reality-check &amp; /trial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STAGE 3: HIGHER EDUCATION</a:t>
            </a:r>
          </a:p>
          <a:p>
            <a:pPr>
              <a:spcAft>
                <a:spcPts val="200"/>
              </a:spcAft>
              <a:defRPr sz="2400" b="1">
                <a:solidFill>
                  <a:srgbClr val="F1F5F9"/>
                </a:solidFill>
                <a:latin typeface="Segoe UI"/>
              </a:defRPr>
            </a:pPr>
            <a:r>
              <a:t>From Career Choice to Real Pakistani Options</a:t>
            </a:r>
          </a:p>
          <a:p>
            <a:pPr>
              <a:defRPr sz="1150">
                <a:solidFill>
                  <a:srgbClr val="94A3B8"/>
                </a:solidFill>
                <a:latin typeface="Segoe UI"/>
              </a:defRPr>
            </a:pPr>
            <a:r>
              <a:t>Connecting validated student pathways directly to 248 HEC universities, 210 degree programs, and 38 opportunities.</a:t>
            </a:r>
          </a:p>
        </p:txBody>
      </p:sp>
      <p:sp>
        <p:nvSpPr>
          <p:cNvPr id="4" name="Rounded Rectangle 3"/>
          <p:cNvSpPr/>
          <p:nvPr/>
        </p:nvSpPr>
        <p:spPr>
          <a:xfrm>
            <a:off x="731520" y="1554480"/>
            <a:ext cx="2514600" cy="105156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B82F6"/>
                </a:solidFill>
                <a:latin typeface="Segoe UI"/>
              </a:defRPr>
            </a:pPr>
            <a:r>
              <a:t>248</a:t>
            </a:r>
          </a:p>
          <a:p>
            <a:pPr>
              <a:defRPr sz="1000" b="1">
                <a:solidFill>
                  <a:srgbClr val="F1F5F9"/>
                </a:solidFill>
                <a:latin typeface="Segoe UI"/>
              </a:defRPr>
            </a:pPr>
            <a:r>
              <a:t>HEC Universities</a:t>
            </a:r>
          </a:p>
          <a:p>
            <a:pPr>
              <a:defRPr sz="800">
                <a:solidFill>
                  <a:srgbClr val="94A3B8"/>
                </a:solidFill>
                <a:latin typeface="Segoe UI"/>
              </a:defRPr>
            </a:pPr>
            <a:r>
              <a:t>166 Public, 82 Private across 8 regions</a:t>
            </a:r>
          </a:p>
        </p:txBody>
      </p:sp>
      <p:sp>
        <p:nvSpPr>
          <p:cNvPr id="5" name="Rounded Rectangle 4"/>
          <p:cNvSpPr/>
          <p:nvPr/>
        </p:nvSpPr>
        <p:spPr>
          <a:xfrm>
            <a:off x="3465576" y="1554480"/>
            <a:ext cx="2514600" cy="105156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B82F6"/>
                </a:solidFill>
                <a:latin typeface="Segoe UI"/>
              </a:defRPr>
            </a:pPr>
            <a:r>
              <a:t>210</a:t>
            </a:r>
          </a:p>
          <a:p>
            <a:pPr>
              <a:defRPr sz="1000" b="1">
                <a:solidFill>
                  <a:srgbClr val="F1F5F9"/>
                </a:solidFill>
                <a:latin typeface="Segoe UI"/>
              </a:defRPr>
            </a:pPr>
            <a:r>
              <a:t>Degree Programs</a:t>
            </a:r>
          </a:p>
          <a:p>
            <a:pPr>
              <a:defRPr sz="800">
                <a:solidFill>
                  <a:srgbClr val="94A3B8"/>
                </a:solidFill>
                <a:latin typeface="Segoe UI"/>
              </a:defRPr>
            </a:pPr>
            <a:r>
              <a:t>BS (129), BE (27), BBA (21), MBBS (8), Pharm-D (4)</a:t>
            </a:r>
          </a:p>
        </p:txBody>
      </p:sp>
      <p:sp>
        <p:nvSpPr>
          <p:cNvPr id="6" name="Rounded Rectangle 5"/>
          <p:cNvSpPr/>
          <p:nvPr/>
        </p:nvSpPr>
        <p:spPr>
          <a:xfrm>
            <a:off x="6199632" y="1554480"/>
            <a:ext cx="2514600" cy="105156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B82F6"/>
                </a:solidFill>
                <a:latin typeface="Segoe UI"/>
              </a:defRPr>
            </a:pPr>
            <a:r>
              <a:t>38</a:t>
            </a:r>
          </a:p>
          <a:p>
            <a:pPr>
              <a:defRPr sz="1000" b="1">
                <a:solidFill>
                  <a:srgbClr val="F1F5F9"/>
                </a:solidFill>
                <a:latin typeface="Segoe UI"/>
              </a:defRPr>
            </a:pPr>
            <a:r>
              <a:t>Verified Opportunities</a:t>
            </a:r>
          </a:p>
          <a:p>
            <a:pPr>
              <a:defRPr sz="800">
                <a:solidFill>
                  <a:srgbClr val="94A3B8"/>
                </a:solidFill>
                <a:latin typeface="Segoe UI"/>
              </a:defRPr>
            </a:pPr>
            <a:r>
              <a:t>18 National Scholarships, 17 Corporate Internships</a:t>
            </a:r>
          </a:p>
        </p:txBody>
      </p:sp>
      <p:sp>
        <p:nvSpPr>
          <p:cNvPr id="7" name="Rounded Rectangle 6"/>
          <p:cNvSpPr/>
          <p:nvPr/>
        </p:nvSpPr>
        <p:spPr>
          <a:xfrm>
            <a:off x="8933688" y="1554480"/>
            <a:ext cx="2514600" cy="105156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B82F6"/>
                </a:solidFill>
                <a:latin typeface="Segoe UI"/>
              </a:defRPr>
            </a:pPr>
            <a:r>
              <a:t>100%</a:t>
            </a:r>
          </a:p>
          <a:p>
            <a:pPr>
              <a:defRPr sz="1000" b="1">
                <a:solidFill>
                  <a:srgbClr val="F1F5F9"/>
                </a:solidFill>
                <a:latin typeface="Segoe UI"/>
              </a:defRPr>
            </a:pPr>
            <a:r>
              <a:t>HEC-Recognized</a:t>
            </a:r>
          </a:p>
          <a:p>
            <a:pPr>
              <a:defRPr sz="800">
                <a:solidFill>
                  <a:srgbClr val="94A3B8"/>
                </a:solidFill>
                <a:latin typeface="Segoe UI"/>
              </a:defRPr>
            </a:pPr>
            <a:r>
              <a:t>Zero unaccredited institutions in student directory</a:t>
            </a:r>
          </a:p>
        </p:txBody>
      </p:sp>
      <p:sp>
        <p:nvSpPr>
          <p:cNvPr id="8" name="Rounded Rectangle 7"/>
          <p:cNvSpPr/>
          <p:nvPr/>
        </p:nvSpPr>
        <p:spPr>
          <a:xfrm>
            <a:off x="704088" y="2761488"/>
            <a:ext cx="5221224" cy="3445287"/>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7_universities.png"/>
          <p:cNvPicPr>
            <a:picLocks noChangeAspect="1"/>
          </p:cNvPicPr>
          <p:nvPr/>
        </p:nvPicPr>
        <p:blipFill>
          <a:blip r:embed="rId3"/>
          <a:stretch>
            <a:fillRect/>
          </a:stretch>
        </p:blipFill>
        <p:spPr>
          <a:xfrm>
            <a:off x="731520" y="2788920"/>
            <a:ext cx="5166360" cy="3390424"/>
          </a:xfrm>
          <a:prstGeom prst="rect">
            <a:avLst/>
          </a:prstGeom>
        </p:spPr>
      </p:pic>
      <p:sp>
        <p:nvSpPr>
          <p:cNvPr id="10" name="Rounded Rectangle 9"/>
          <p:cNvSpPr/>
          <p:nvPr/>
        </p:nvSpPr>
        <p:spPr>
          <a:xfrm>
            <a:off x="6236207" y="2761488"/>
            <a:ext cx="5248655" cy="346329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8_opportunities.png"/>
          <p:cNvPicPr>
            <a:picLocks noChangeAspect="1"/>
          </p:cNvPicPr>
          <p:nvPr/>
        </p:nvPicPr>
        <p:blipFill>
          <a:blip r:embed="rId4"/>
          <a:stretch>
            <a:fillRect/>
          </a:stretch>
        </p:blipFill>
        <p:spPr>
          <a:xfrm>
            <a:off x="6263640" y="2788920"/>
            <a:ext cx="5193792" cy="3408426"/>
          </a:xfrm>
          <a:prstGeom prst="rect">
            <a:avLst/>
          </a:prstGeom>
        </p:spPr>
      </p:pic>
      <p:sp>
        <p:nvSpPr>
          <p:cNvPr id="12" name="TextBox 11"/>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Captured from live deployment: /universities &amp; /opportunities · BackEnd/ah_career.db verified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STAGE 4: EMPLOYABILITY</a:t>
            </a:r>
          </a:p>
          <a:p>
            <a:pPr>
              <a:spcAft>
                <a:spcPts val="200"/>
              </a:spcAft>
              <a:defRPr sz="2400" b="1">
                <a:solidFill>
                  <a:srgbClr val="F1F5F9"/>
                </a:solidFill>
                <a:latin typeface="Segoe UI"/>
              </a:defRPr>
            </a:pPr>
            <a:r>
              <a:t>Choosing a Career Is Only Step One.</a:t>
            </a:r>
          </a:p>
          <a:p>
            <a:pPr>
              <a:defRPr sz="1150">
                <a:solidFill>
                  <a:srgbClr val="94A3B8"/>
                </a:solidFill>
                <a:latin typeface="Segoe UI"/>
              </a:defRPr>
            </a:pPr>
            <a:r>
              <a:t>A three-stage pipeline closing the employability gap: Learn foundational skills, prepare CV readiness, and prove technical competence.</a:t>
            </a:r>
          </a:p>
        </p:txBody>
      </p:sp>
      <p:sp>
        <p:nvSpPr>
          <p:cNvPr id="4" name="Rounded Rectangle 3"/>
          <p:cNvSpPr/>
          <p:nvPr/>
        </p:nvSpPr>
        <p:spPr>
          <a:xfrm>
            <a:off x="731520" y="1554480"/>
            <a:ext cx="3337560" cy="461772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200" b="1">
                <a:solidFill>
                  <a:srgbClr val="3B82F6"/>
                </a:solidFill>
                <a:latin typeface="Segoe UI"/>
              </a:defRPr>
            </a:pPr>
            <a:r>
              <a:t>1. LEARN (86 RESOURCES)</a:t>
            </a:r>
          </a:p>
          <a:p>
            <a:pPr>
              <a:spcAft>
                <a:spcPts val="600"/>
              </a:spcAft>
              <a:defRPr sz="950">
                <a:solidFill>
                  <a:srgbClr val="94A3B8"/>
                </a:solidFill>
                <a:latin typeface="Segoe UI"/>
              </a:defRPr>
            </a:pPr>
            <a:r>
              <a:t>• 67 Technical Courses: Curated curricula from Coursera, edX, MIT OCW, and DeepLearning.AI.</a:t>
            </a:r>
          </a:p>
          <a:p>
            <a:pPr>
              <a:spcAft>
                <a:spcPts val="600"/>
              </a:spcAft>
              <a:defRPr sz="950">
                <a:solidFill>
                  <a:srgbClr val="94A3B8"/>
                </a:solidFill>
                <a:latin typeface="Segoe UI"/>
              </a:defRPr>
            </a:pPr>
            <a:r>
              <a:t>• 17 Vocational Programs: Free training from NAVTTC, DigiSkills, and Punjab Skills Development Fund (PSDF).</a:t>
            </a:r>
          </a:p>
          <a:p>
            <a:pPr>
              <a:spcAft>
                <a:spcPts val="600"/>
              </a:spcAft>
              <a:defRPr sz="950">
                <a:solidFill>
                  <a:srgbClr val="94A3B8"/>
                </a:solidFill>
                <a:latin typeface="Segoe UI"/>
              </a:defRPr>
            </a:pPr>
            <a:r>
              <a:t>• 54 Free Resources: High-quality zero-cost learning paths accessible across Pakistan.</a:t>
            </a:r>
          </a:p>
          <a:p>
            <a:pPr>
              <a:spcAft>
                <a:spcPts val="600"/>
              </a:spcAft>
              <a:defRPr sz="950">
                <a:solidFill>
                  <a:srgbClr val="94A3B8"/>
                </a:solidFill>
                <a:latin typeface="Segoe UI"/>
              </a:defRPr>
            </a:pPr>
            <a:r>
              <a:t>• Skill-Mapped Levels: 70 beginner, 15 intermediate, 1 advanced course linked to target career skills.</a:t>
            </a:r>
          </a:p>
        </p:txBody>
      </p:sp>
      <p:sp>
        <p:nvSpPr>
          <p:cNvPr id="5" name="Rounded Rectangle 4"/>
          <p:cNvSpPr/>
          <p:nvPr/>
        </p:nvSpPr>
        <p:spPr>
          <a:xfrm>
            <a:off x="4398264" y="1527048"/>
            <a:ext cx="3392424" cy="2315791"/>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2_job_readiness.png"/>
          <p:cNvPicPr>
            <a:picLocks noChangeAspect="1"/>
          </p:cNvPicPr>
          <p:nvPr/>
        </p:nvPicPr>
        <p:blipFill>
          <a:blip r:embed="rId3"/>
          <a:stretch>
            <a:fillRect/>
          </a:stretch>
        </p:blipFill>
        <p:spPr>
          <a:xfrm>
            <a:off x="4425696" y="1554480"/>
            <a:ext cx="3337560" cy="2260928"/>
          </a:xfrm>
          <a:prstGeom prst="rect">
            <a:avLst/>
          </a:prstGeom>
        </p:spPr>
      </p:pic>
      <p:sp>
        <p:nvSpPr>
          <p:cNvPr id="7" name="Rounded Rectangle 6"/>
          <p:cNvSpPr/>
          <p:nvPr/>
        </p:nvSpPr>
        <p:spPr>
          <a:xfrm>
            <a:off x="4425696" y="4023360"/>
            <a:ext cx="3337560" cy="214884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F59E0B"/>
                </a:solidFill>
                <a:latin typeface="Segoe UI"/>
              </a:defRPr>
            </a:pPr>
            <a:r>
              <a:t>2. PREPARE (JOB READINESS)</a:t>
            </a:r>
          </a:p>
          <a:p>
            <a:pPr>
              <a:spcAft>
                <a:spcPts val="300"/>
              </a:spcAft>
              <a:defRPr sz="900">
                <a:solidFill>
                  <a:srgbClr val="94A3B8"/>
                </a:solidFill>
                <a:latin typeface="Segoe UI"/>
              </a:defRPr>
            </a:pPr>
            <a:r>
              <a:t>• Dynamic Audit Score: 0–100% readiness score evaluating resume completeness and skills.</a:t>
            </a:r>
          </a:p>
          <a:p>
            <a:pPr>
              <a:spcAft>
                <a:spcPts val="300"/>
              </a:spcAft>
              <a:defRPr sz="900">
                <a:solidFill>
                  <a:srgbClr val="94A3B8"/>
                </a:solidFill>
                <a:latin typeface="Segoe UI"/>
              </a:defRPr>
            </a:pPr>
            <a:r>
              <a:t>• Missing Competency Alerts: Flags immediate missing skills preventing interview selection.</a:t>
            </a:r>
          </a:p>
        </p:txBody>
      </p:sp>
      <p:sp>
        <p:nvSpPr>
          <p:cNvPr id="8" name="Rounded Rectangle 7"/>
          <p:cNvSpPr/>
          <p:nvPr/>
        </p:nvSpPr>
        <p:spPr>
          <a:xfrm>
            <a:off x="8092440" y="1527048"/>
            <a:ext cx="3392424" cy="233553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9_mock_interview.png"/>
          <p:cNvPicPr>
            <a:picLocks noChangeAspect="1"/>
          </p:cNvPicPr>
          <p:nvPr/>
        </p:nvPicPr>
        <p:blipFill>
          <a:blip r:embed="rId4"/>
          <a:stretch>
            <a:fillRect/>
          </a:stretch>
        </p:blipFill>
        <p:spPr>
          <a:xfrm>
            <a:off x="8119872" y="1554480"/>
            <a:ext cx="3337560" cy="2280666"/>
          </a:xfrm>
          <a:prstGeom prst="rect">
            <a:avLst/>
          </a:prstGeom>
        </p:spPr>
      </p:pic>
      <p:sp>
        <p:nvSpPr>
          <p:cNvPr id="10" name="Rounded Rectangle 9"/>
          <p:cNvSpPr/>
          <p:nvPr/>
        </p:nvSpPr>
        <p:spPr>
          <a:xfrm>
            <a:off x="8119872" y="4023360"/>
            <a:ext cx="3337560" cy="214884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10B981"/>
                </a:solidFill>
                <a:latin typeface="Segoe UI"/>
              </a:defRPr>
            </a:pPr>
            <a:r>
              <a:t>3. PROVE (QWEN MOCK INTERVIEW)</a:t>
            </a:r>
          </a:p>
          <a:p>
            <a:pPr>
              <a:spcAft>
                <a:spcPts val="300"/>
              </a:spcAft>
              <a:defRPr sz="900">
                <a:solidFill>
                  <a:srgbClr val="F1F5F9"/>
                </a:solidFill>
                <a:latin typeface="Segoe UI"/>
              </a:defRPr>
            </a:pPr>
            <a:r>
              <a:t>✓ 10-Question Screening: Domain-specific multiple-choice technical interview (4.73 ms cached setup).</a:t>
            </a:r>
          </a:p>
          <a:p>
            <a:pPr>
              <a:spcAft>
                <a:spcPts val="300"/>
              </a:spcAft>
              <a:defRPr sz="900">
                <a:solidFill>
                  <a:srgbClr val="F1F5F9"/>
                </a:solidFill>
                <a:latin typeface="Segoe UI"/>
              </a:defRPr>
            </a:pPr>
            <a:r>
              <a:t>✓ Direct Remediation Flow: Weak topic areas link directly to specific Career OS learning resources.</a:t>
            </a:r>
          </a:p>
        </p:txBody>
      </p:sp>
      <p:sp>
        <p:nvSpPr>
          <p:cNvPr id="11" name="TextBox 10"/>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Captured from live deployment: /job-readiness &amp; /mock-interview · BackEnd/services/mock_interview_service.py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DIVERSIFIED PATHWAYS</a:t>
            </a:r>
          </a:p>
          <a:p>
            <a:pPr>
              <a:spcAft>
                <a:spcPts val="200"/>
              </a:spcAft>
              <a:defRPr sz="2400" b="1">
                <a:solidFill>
                  <a:srgbClr val="F1F5F9"/>
                </a:solidFill>
                <a:latin typeface="Segoe UI"/>
              </a:defRPr>
            </a:pPr>
            <a:r>
              <a:t>Career Paths Aren't Only Academic</a:t>
            </a:r>
          </a:p>
          <a:p>
            <a:pPr>
              <a:defRPr sz="1150">
                <a:solidFill>
                  <a:srgbClr val="94A3B8"/>
                </a:solidFill>
                <a:latin typeface="Segoe UI"/>
              </a:defRPr>
            </a:pPr>
            <a:r>
              <a:t>Supporting athletic admissions today, while outlining a transparent roadmap for verified graduate mentorship.</a:t>
            </a:r>
          </a:p>
        </p:txBody>
      </p:sp>
      <p:sp>
        <p:nvSpPr>
          <p:cNvPr id="4" name="Rounded Rectangle 3"/>
          <p:cNvSpPr/>
          <p:nvPr/>
        </p:nvSpPr>
        <p:spPr>
          <a:xfrm>
            <a:off x="704088" y="1527048"/>
            <a:ext cx="5221224" cy="3445287"/>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0_sports.png"/>
          <p:cNvPicPr>
            <a:picLocks noChangeAspect="1"/>
          </p:cNvPicPr>
          <p:nvPr/>
        </p:nvPicPr>
        <p:blipFill>
          <a:blip r:embed="rId3"/>
          <a:stretch>
            <a:fillRect/>
          </a:stretch>
        </p:blipFill>
        <p:spPr>
          <a:xfrm>
            <a:off x="731520" y="1554480"/>
            <a:ext cx="5166360" cy="3390424"/>
          </a:xfrm>
          <a:prstGeom prst="rect">
            <a:avLst/>
          </a:prstGeom>
        </p:spPr>
      </p:pic>
      <p:sp>
        <p:nvSpPr>
          <p:cNvPr id="6" name="Rounded Rectangle 5"/>
          <p:cNvSpPr/>
          <p:nvPr/>
        </p:nvSpPr>
        <p:spPr>
          <a:xfrm>
            <a:off x="731520" y="5120640"/>
            <a:ext cx="5166360" cy="10515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050" b="1">
                <a:solidFill>
                  <a:srgbClr val="3B82F6"/>
                </a:solidFill>
                <a:latin typeface="Segoe UI"/>
              </a:defRPr>
            </a:pPr>
            <a:r>
              <a:t>NOW LIVE: SPORTS &amp; ATHLETIC PATHWAYS</a:t>
            </a:r>
          </a:p>
          <a:p>
            <a:pPr>
              <a:defRPr sz="880">
                <a:solidFill>
                  <a:srgbClr val="94A3B8"/>
                </a:solidFill>
                <a:latin typeface="Segoe UI"/>
              </a:defRPr>
            </a:pPr>
            <a:r>
              <a:t>• 18 Verified Listings across 11 Sports (Cricket, Football, Badminton, Squash, Athletics, Tennis)</a:t>
            </a:r>
            <a:br/>
            <a:r>
              <a:t>• PCB Regional Academies &amp; Departmental Trials (WAPDA, Armed Forces)</a:t>
            </a:r>
            <a:br/>
            <a:r>
              <a:t>• University Sports Quotas at top institutions (NUST, FAST, Punjab University)</a:t>
            </a:r>
          </a:p>
        </p:txBody>
      </p:sp>
      <p:sp>
        <p:nvSpPr>
          <p:cNvPr id="7" name="Rounded Rectangle 6"/>
          <p:cNvSpPr/>
          <p:nvPr/>
        </p:nvSpPr>
        <p:spPr>
          <a:xfrm>
            <a:off x="6236207" y="1527048"/>
            <a:ext cx="5248655" cy="3603955"/>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1_alumni.png"/>
          <p:cNvPicPr>
            <a:picLocks noChangeAspect="1"/>
          </p:cNvPicPr>
          <p:nvPr/>
        </p:nvPicPr>
        <p:blipFill>
          <a:blip r:embed="rId4"/>
          <a:stretch>
            <a:fillRect/>
          </a:stretch>
        </p:blipFill>
        <p:spPr>
          <a:xfrm>
            <a:off x="6263640" y="1554480"/>
            <a:ext cx="5193792" cy="3549091"/>
          </a:xfrm>
          <a:prstGeom prst="rect">
            <a:avLst/>
          </a:prstGeom>
        </p:spPr>
      </p:pic>
      <p:sp>
        <p:nvSpPr>
          <p:cNvPr id="9" name="Rounded Rectangle 8"/>
          <p:cNvSpPr/>
          <p:nvPr/>
        </p:nvSpPr>
        <p:spPr>
          <a:xfrm>
            <a:off x="6263640" y="5120640"/>
            <a:ext cx="5193792" cy="105156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050" b="1">
                <a:solidFill>
                  <a:srgbClr val="F59E0B"/>
                </a:solidFill>
                <a:latin typeface="Segoe UI"/>
              </a:defRPr>
            </a:pPr>
            <a:r>
              <a:t>NEXT ROADMAP: TALK TO ALUMNI (COMING SOON)</a:t>
            </a:r>
          </a:p>
          <a:p>
            <a:pPr>
              <a:defRPr sz="880">
                <a:solidFill>
                  <a:srgbClr val="F1F5F9"/>
                </a:solidFill>
                <a:latin typeface="Segoe UI"/>
              </a:defRPr>
            </a:pPr>
            <a:r>
              <a:t>• Transparent Roadmap Preview: Clearly marked as Coming Soon on frontend &amp; backend</a:t>
            </a:r>
            <a:br/>
            <a:r>
              <a:t>• Verified Institution Network: Preparing advisory connections with graduates from NUST, FAST, LUMS, IBA, GIKI</a:t>
            </a:r>
            <a:br/>
            <a:r>
              <a:t>• Live Notification Engine: Captures student emails on /alumni without fabricating AI chatbots</a:t>
            </a:r>
          </a:p>
        </p:txBody>
      </p:sp>
      <p:sp>
        <p:nvSpPr>
          <p:cNvPr id="10" name="TextBox 9"/>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Captured from live deployment: /sports &amp; /alumni · Product honesty: Alumni is strictly Coming Soon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DATA INTEGRITY &amp; GOVERNANCE</a:t>
            </a:r>
          </a:p>
          <a:p>
            <a:pPr>
              <a:spcAft>
                <a:spcPts val="200"/>
              </a:spcAft>
              <a:defRPr sz="2400" b="1">
                <a:solidFill>
                  <a:srgbClr val="F1F5F9"/>
                </a:solidFill>
                <a:latin typeface="Segoe UI"/>
              </a:defRPr>
            </a:pPr>
            <a:r>
              <a:t>The AI Is Not the Source of Truth.</a:t>
            </a:r>
          </a:p>
          <a:p>
            <a:pPr>
              <a:defRPr sz="1150">
                <a:solidFill>
                  <a:srgbClr val="94A3B8"/>
                </a:solidFill>
                <a:latin typeface="Segoe UI"/>
              </a:defRPr>
            </a:pPr>
            <a:r>
              <a:t>Designed to prevent fabricated factual records through strict 4-level source hierarchy, content hashing, and hard visibility gates.</a:t>
            </a:r>
          </a:p>
        </p:txBody>
      </p:sp>
      <p:sp>
        <p:nvSpPr>
          <p:cNvPr id="4" name="Rounded Rectangle 3"/>
          <p:cNvSpPr/>
          <p:nvPr/>
        </p:nvSpPr>
        <p:spPr>
          <a:xfrm>
            <a:off x="731520" y="1554480"/>
            <a:ext cx="1993392" cy="15087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3B82F6"/>
                </a:solidFill>
                <a:latin typeface="Segoe UI"/>
              </a:defRPr>
            </a:pPr>
            <a:r>
              <a:t>1. Official Sources</a:t>
            </a:r>
          </a:p>
          <a:p>
            <a:pPr>
              <a:defRPr sz="850">
                <a:solidFill>
                  <a:srgbClr val="94A3B8"/>
                </a:solidFill>
                <a:latin typeface="Segoe UI"/>
              </a:defRPr>
            </a:pPr>
            <a:r>
              <a:t>34 Level 1 authorities (HEC, NAVTTC, Unis, PCB, PFF)</a:t>
            </a:r>
          </a:p>
        </p:txBody>
      </p:sp>
      <p:sp>
        <p:nvSpPr>
          <p:cNvPr id="5" name="Rounded Rectangle 4"/>
          <p:cNvSpPr/>
          <p:nvPr/>
        </p:nvSpPr>
        <p:spPr>
          <a:xfrm>
            <a:off x="2907792" y="1554480"/>
            <a:ext cx="1993392" cy="15087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3B82F6"/>
                </a:solidFill>
                <a:latin typeface="Segoe UI"/>
              </a:defRPr>
            </a:pPr>
            <a:r>
              <a:t>2. Extraction (Qwen)</a:t>
            </a:r>
          </a:p>
          <a:p>
            <a:pPr>
              <a:defRPr sz="850">
                <a:solidFill>
                  <a:srgbClr val="94A3B8"/>
                </a:solidFill>
                <a:latin typeface="Segoe UI"/>
              </a:defRPr>
            </a:pPr>
            <a:r>
              <a:t>Qwen extracts &amp; structures data; never asserts facts</a:t>
            </a:r>
          </a:p>
        </p:txBody>
      </p:sp>
      <p:sp>
        <p:nvSpPr>
          <p:cNvPr id="6" name="Rounded Rectangle 5"/>
          <p:cNvSpPr/>
          <p:nvPr/>
        </p:nvSpPr>
        <p:spPr>
          <a:xfrm>
            <a:off x="5084064" y="1554480"/>
            <a:ext cx="1993392" cy="15087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3B82F6"/>
                </a:solidFill>
                <a:latin typeface="Segoe UI"/>
              </a:defRPr>
            </a:pPr>
            <a:r>
              <a:t>3. Pydantic Audit</a:t>
            </a:r>
          </a:p>
          <a:p>
            <a:pPr>
              <a:defRPr sz="850">
                <a:solidFill>
                  <a:srgbClr val="94A3B8"/>
                </a:solidFill>
                <a:latin typeface="Segoe UI"/>
              </a:defRPr>
            </a:pPr>
            <a:r>
              <a:t>Strict schema enforcement against Pydantic models</a:t>
            </a:r>
          </a:p>
        </p:txBody>
      </p:sp>
      <p:sp>
        <p:nvSpPr>
          <p:cNvPr id="7" name="Rounded Rectangle 6"/>
          <p:cNvSpPr/>
          <p:nvPr/>
        </p:nvSpPr>
        <p:spPr>
          <a:xfrm>
            <a:off x="7260336" y="1554480"/>
            <a:ext cx="1993392" cy="150876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3B82F6"/>
                </a:solidFill>
                <a:latin typeface="Segoe UI"/>
              </a:defRPr>
            </a:pPr>
            <a:r>
              <a:t>4. Staging Quarantine</a:t>
            </a:r>
          </a:p>
          <a:p>
            <a:pPr>
              <a:defRPr sz="850">
                <a:solidFill>
                  <a:srgbClr val="94A3B8"/>
                </a:solidFill>
                <a:latin typeface="Segoe UI"/>
              </a:defRPr>
            </a:pPr>
            <a:r>
              <a:t>2,065 raw candidate records in pke_staging_records</a:t>
            </a:r>
          </a:p>
        </p:txBody>
      </p:sp>
      <p:sp>
        <p:nvSpPr>
          <p:cNvPr id="8" name="Rounded Rectangle 7"/>
          <p:cNvSpPr/>
          <p:nvPr/>
        </p:nvSpPr>
        <p:spPr>
          <a:xfrm>
            <a:off x="9436608" y="1554480"/>
            <a:ext cx="1993392" cy="1508760"/>
          </a:xfrm>
          <a:prstGeom prst="roundRect">
            <a:avLst/>
          </a:prstGeom>
          <a:solidFill>
            <a:srgbClr val="111827"/>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10B981"/>
                </a:solidFill>
                <a:latin typeface="Segoe UI"/>
              </a:defRPr>
            </a:pPr>
            <a:r>
              <a:t>5. Visibility Gate</a:t>
            </a:r>
          </a:p>
          <a:p>
            <a:pPr>
              <a:defRPr sz="850">
                <a:solidFill>
                  <a:srgbClr val="94A3B8"/>
                </a:solidFill>
                <a:latin typeface="Segoe UI"/>
              </a:defRPr>
            </a:pPr>
            <a:r>
              <a:t>CANDIDATE (Hidden) vs VALIDATED (Served to Students)</a:t>
            </a:r>
          </a:p>
        </p:txBody>
      </p:sp>
      <p:sp>
        <p:nvSpPr>
          <p:cNvPr id="9" name="Rounded Rectangle 8"/>
          <p:cNvSpPr/>
          <p:nvPr/>
        </p:nvSpPr>
        <p:spPr>
          <a:xfrm>
            <a:off x="731520" y="3246120"/>
            <a:ext cx="5166360" cy="292608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50" b="1">
                <a:solidFill>
                  <a:srgbClr val="3B82F6"/>
                </a:solidFill>
                <a:latin typeface="Segoe UI"/>
              </a:defRPr>
            </a:pPr>
            <a:r>
              <a:t>PROVENANCE COLUMNS ON EVERY RECORD</a:t>
            </a:r>
          </a:p>
          <a:p>
            <a:pPr>
              <a:spcAft>
                <a:spcPts val="400"/>
              </a:spcAft>
              <a:defRPr sz="950">
                <a:solidFill>
                  <a:srgbClr val="94A3B8"/>
                </a:solidFill>
                <a:latin typeface="Segoe UI"/>
              </a:defRPr>
            </a:pPr>
            <a:r>
              <a:t>• source_id: Canonical ID linking back to Level 1 / Level 2 registry</a:t>
            </a:r>
          </a:p>
          <a:p>
            <a:pPr>
              <a:spcAft>
                <a:spcPts val="400"/>
              </a:spcAft>
              <a:defRPr sz="950">
                <a:solidFill>
                  <a:srgbClr val="94A3B8"/>
                </a:solidFill>
                <a:latin typeface="Segoe UI"/>
              </a:defRPr>
            </a:pPr>
            <a:r>
              <a:t>• source_url: Direct link to official government/university source document</a:t>
            </a:r>
          </a:p>
          <a:p>
            <a:pPr>
              <a:spcAft>
                <a:spcPts val="400"/>
              </a:spcAft>
              <a:defRPr sz="950">
                <a:solidFill>
                  <a:srgbClr val="94A3B8"/>
                </a:solidFill>
                <a:latin typeface="Segoe UI"/>
              </a:defRPr>
            </a:pPr>
            <a:r>
              <a:t>• content_hash: SHA-256 hash guaranteeing document data integrity</a:t>
            </a:r>
          </a:p>
          <a:p>
            <a:pPr>
              <a:spcAft>
                <a:spcPts val="400"/>
              </a:spcAft>
              <a:defRPr sz="950">
                <a:solidFill>
                  <a:srgbClr val="94A3B8"/>
                </a:solidFill>
                <a:latin typeface="Segoe UI"/>
              </a:defRPr>
            </a:pPr>
            <a:r>
              <a:t>• retrieved_at: Timestamp ensuring freshness &amp; automated stale-record purging</a:t>
            </a:r>
          </a:p>
          <a:p>
            <a:pPr>
              <a:spcAft>
                <a:spcPts val="400"/>
              </a:spcAft>
              <a:defRPr sz="950">
                <a:solidFill>
                  <a:srgbClr val="94A3B8"/>
                </a:solidFill>
                <a:latin typeface="Segoe UI"/>
              </a:defRPr>
            </a:pPr>
            <a:r>
              <a:t>• Legal Compliance: 100% compliant with robots.txt; zero scraping of protected portals</a:t>
            </a:r>
          </a:p>
        </p:txBody>
      </p:sp>
      <p:sp>
        <p:nvSpPr>
          <p:cNvPr id="10" name="Rounded Rectangle 9"/>
          <p:cNvSpPr/>
          <p:nvPr/>
        </p:nvSpPr>
        <p:spPr>
          <a:xfrm>
            <a:off x="6263640" y="3246120"/>
            <a:ext cx="5193792" cy="292608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50" b="1">
                <a:solidFill>
                  <a:srgbClr val="10B981"/>
                </a:solidFill>
                <a:latin typeface="Segoe UI"/>
              </a:defRPr>
            </a:pPr>
            <a:r>
              <a:t>HARD STUDENT-FACING VISIBILITY GATE</a:t>
            </a:r>
          </a:p>
          <a:p>
            <a:pPr>
              <a:spcAft>
                <a:spcPts val="500"/>
              </a:spcAft>
              <a:defRPr sz="1000" b="1">
                <a:solidFill>
                  <a:srgbClr val="EF4444"/>
                </a:solidFill>
                <a:latin typeface="Segoe UI"/>
              </a:defRPr>
            </a:pPr>
            <a:r>
              <a:t>• CANDIDATE / UNREVIEWED → ✗  Strictly isolated from student-facing endpoints</a:t>
            </a:r>
          </a:p>
          <a:p>
            <a:pPr>
              <a:spcAft>
                <a:spcPts val="500"/>
              </a:spcAft>
              <a:defRPr sz="1000" b="1">
                <a:solidFill>
                  <a:srgbClr val="F59E0B"/>
                </a:solidFill>
                <a:latin typeface="Segoe UI"/>
              </a:defRPr>
            </a:pPr>
            <a:r>
              <a:t>• NEEDS_REVIEW → ✗  Quarantined until human/admin verification review</a:t>
            </a:r>
          </a:p>
          <a:p>
            <a:pPr>
              <a:spcAft>
                <a:spcPts val="500"/>
              </a:spcAft>
              <a:defRPr sz="1000" b="1">
                <a:solidFill>
                  <a:srgbClr val="10B981"/>
                </a:solidFill>
                <a:latin typeface="Segoe UI"/>
              </a:defRPr>
            </a:pPr>
            <a:r>
              <a:t>• VALIDATED → ✓  Only status permitted to reach student journeys &amp; search</a:t>
            </a:r>
          </a:p>
          <a:p>
            <a:pPr>
              <a:spcAft>
                <a:spcPts val="500"/>
              </a:spcAft>
              <a:defRPr sz="1000" b="1">
                <a:solidFill>
                  <a:srgbClr val="F1F5F9"/>
                </a:solidFill>
                <a:latin typeface="Segoe UI"/>
              </a:defRPr>
            </a:pPr>
            <a:r>
              <a:t>• Deterministic Fallbacks → If AI provider times out, grounded DB records serve answers</a:t>
            </a:r>
          </a:p>
        </p:txBody>
      </p:sp>
      <p:sp>
        <p:nvSpPr>
          <p:cNvPr id="11" name="TextBox 10"/>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Source: Docs/pakistan_knowledge_engine.md &amp; BackEnd/retrieval/visibility.py · 2,065 staged records verified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ENGINEERING BLUEPRINT</a:t>
            </a:r>
          </a:p>
          <a:p>
            <a:pPr>
              <a:spcAft>
                <a:spcPts val="200"/>
              </a:spcAft>
              <a:defRPr sz="2400" b="1">
                <a:solidFill>
                  <a:srgbClr val="F1F5F9"/>
                </a:solidFill>
                <a:latin typeface="Segoe UI"/>
              </a:defRPr>
            </a:pPr>
            <a:r>
              <a:t>Built as a Real Full-Stack System</a:t>
            </a:r>
          </a:p>
          <a:p>
            <a:pPr>
              <a:defRPr sz="1150">
                <a:solidFill>
                  <a:srgbClr val="94A3B8"/>
                </a:solidFill>
                <a:latin typeface="Segoe UI"/>
              </a:defRPr>
            </a:pPr>
            <a:r>
              <a:t>Next.js 14 Edge, FastAPI, Model Context Protocol (MCP), and Alibaba Qwen 3.6-plus with automated 4-model fallback.</a:t>
            </a:r>
          </a:p>
        </p:txBody>
      </p:sp>
      <p:sp>
        <p:nvSpPr>
          <p:cNvPr id="4" name="Rounded Rectangle 3"/>
          <p:cNvSpPr/>
          <p:nvPr/>
        </p:nvSpPr>
        <p:spPr>
          <a:xfrm>
            <a:off x="731520" y="1554480"/>
            <a:ext cx="6400800" cy="461772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200" b="1">
                <a:solidFill>
                  <a:srgbClr val="3B82F6"/>
                </a:solidFill>
                <a:latin typeface="Segoe UI"/>
              </a:defRPr>
            </a:pPr>
            <a:r>
              <a:t>SYSTEM TOPOLOGY &amp; DATA FLOW</a:t>
            </a:r>
          </a:p>
          <a:p>
            <a:pPr>
              <a:spcAft>
                <a:spcPts val="800"/>
              </a:spcAft>
              <a:defRPr sz="1050">
                <a:solidFill>
                  <a:srgbClr val="F1F5F9"/>
                </a:solidFill>
                <a:latin typeface="Segoe UI"/>
              </a:defRPr>
            </a:pPr>
            <a:r>
              <a:t>• 1. Frontend Layer: Next.js 14 App Router, TypeScript, Tailwind CSS, Vercel Edge (17 routes, responsive)</a:t>
            </a:r>
          </a:p>
          <a:p>
            <a:pPr>
              <a:spcAft>
                <a:spcPts val="800"/>
              </a:spcAft>
              <a:defRPr sz="1050">
                <a:solidFill>
                  <a:srgbClr val="94A3B8"/>
                </a:solidFill>
                <a:latin typeface="Segoe UI"/>
              </a:defRPr>
            </a:pPr>
            <a:r>
              <a:t>• 2. API Gateway Layer: FastAPI on Render Starter, 47 REST endpoints, strict CORS, log sanitisation</a:t>
            </a:r>
          </a:p>
          <a:p>
            <a:pPr>
              <a:spcAft>
                <a:spcPts val="800"/>
              </a:spcAft>
              <a:defRPr sz="1050">
                <a:solidFill>
                  <a:srgbClr val="94A3B8"/>
                </a:solidFill>
                <a:latin typeface="Segoe UI"/>
              </a:defRPr>
            </a:pPr>
            <a:r>
              <a:t>• 3. Model Context Protocol: 3 SSE server mounts (/mcp/career, /mcp/opportunity, /mcp/pke) with 19 tools</a:t>
            </a:r>
          </a:p>
          <a:p>
            <a:pPr>
              <a:spcAft>
                <a:spcPts val="800"/>
              </a:spcAft>
              <a:defRPr sz="1050">
                <a:solidFill>
                  <a:srgbClr val="F1F5F9"/>
                </a:solidFill>
                <a:latin typeface="Segoe UI"/>
              </a:defRPr>
            </a:pPr>
            <a:r>
              <a:t>• 4. Production AI Runtime: Alibaba Cloud Model Studio / DashScope (Singapore MaaS endpoint)</a:t>
            </a:r>
          </a:p>
          <a:p>
            <a:pPr>
              <a:spcAft>
                <a:spcPts val="800"/>
              </a:spcAft>
              <a:defRPr sz="1050">
                <a:solidFill>
                  <a:srgbClr val="94A3B8"/>
                </a:solidFill>
                <a:latin typeface="Segoe UI"/>
              </a:defRPr>
            </a:pPr>
            <a:r>
              <a:t>• 5. Persistent Storage Layer: SQLAlchemy ORM + SQLite Write-Ahead-Logging (WAL) mode with FTS search</a:t>
            </a:r>
          </a:p>
        </p:txBody>
      </p:sp>
      <p:sp>
        <p:nvSpPr>
          <p:cNvPr id="5" name="Rounded Rectangle 4"/>
          <p:cNvSpPr/>
          <p:nvPr/>
        </p:nvSpPr>
        <p:spPr>
          <a:xfrm>
            <a:off x="7315200" y="1554480"/>
            <a:ext cx="4142232" cy="461772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200" b="1">
                <a:solidFill>
                  <a:srgbClr val="10B981"/>
                </a:solidFill>
                <a:latin typeface="Segoe UI"/>
              </a:defRPr>
            </a:pPr>
            <a:r>
              <a:t>MANDATED QWEN FALLBACK CHAIN</a:t>
            </a:r>
          </a:p>
          <a:p>
            <a:pPr>
              <a:spcAft>
                <a:spcPts val="400"/>
              </a:spcAft>
              <a:defRPr sz="1000" b="1">
                <a:solidFill>
                  <a:srgbClr val="10B981"/>
                </a:solidFill>
                <a:latin typeface="Segoe UI"/>
              </a:defRPr>
            </a:pPr>
            <a:r>
              <a:t>▶ qwen3.6-plus (PRIMARY)</a:t>
            </a:r>
          </a:p>
          <a:p>
            <a:pPr>
              <a:spcAft>
                <a:spcPts val="400"/>
              </a:spcAft>
              <a:defRPr sz="1000" b="1">
                <a:solidFill>
                  <a:srgbClr val="3B82F6"/>
                </a:solidFill>
                <a:latin typeface="Segoe UI"/>
              </a:defRPr>
            </a:pPr>
            <a:r>
              <a:t>▶ qwen-plus-2025-07-28 (FALLBACK 1)</a:t>
            </a:r>
          </a:p>
          <a:p>
            <a:pPr>
              <a:spcAft>
                <a:spcPts val="400"/>
              </a:spcAft>
              <a:defRPr sz="1000" b="1">
                <a:solidFill>
                  <a:srgbClr val="3B82F6"/>
                </a:solidFill>
                <a:latin typeface="Segoe UI"/>
              </a:defRPr>
            </a:pPr>
            <a:r>
              <a:t>▶ qwen3-vl-235b-a22b-thinking (FALLBACK 2)</a:t>
            </a:r>
          </a:p>
          <a:p>
            <a:pPr>
              <a:spcAft>
                <a:spcPts val="400"/>
              </a:spcAft>
              <a:defRPr sz="1000" b="1">
                <a:solidFill>
                  <a:srgbClr val="F59E0B"/>
                </a:solidFill>
                <a:latin typeface="Segoe UI"/>
              </a:defRPr>
            </a:pPr>
            <a:r>
              <a:t>▶ qwen-turbo (FALLBACK 3)</a:t>
            </a:r>
          </a:p>
          <a:p>
            <a:pPr>
              <a:defRPr sz="800">
                <a:solidFill>
                  <a:srgbClr val="1E2D42"/>
                </a:solidFill>
              </a:defRPr>
            </a:pPr>
            <a:r>
              <a:t>━━━━━━━━━━━━━━━━━━━━━━━━━━━━</a:t>
            </a:r>
          </a:p>
          <a:p>
            <a:pPr>
              <a:defRPr sz="950">
                <a:solidFill>
                  <a:srgbClr val="94A3B8"/>
                </a:solidFill>
                <a:latin typeface="Segoe UI"/>
              </a:defRPr>
            </a:pPr>
            <a:r>
              <a:t>• Fail-Closed Startup: Application validates Qwen model chain before accepting requests</a:t>
            </a:r>
            <a:br/>
            <a:r>
              <a:t>• Zero Gemini: Production strictly locked to verified Qwen MaaS</a:t>
            </a:r>
            <a:br/>
            <a:r>
              <a:t>• MCP Tools: 19 internal tools for career, opportunities, and PKE queries</a:t>
            </a:r>
          </a:p>
        </p:txBody>
      </p:sp>
      <p:sp>
        <p:nvSpPr>
          <p:cNvPr id="6" name="TextBox 5"/>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Source: BackEnd/config.py, BackEnd/services/ai_service.py, Mcp/ directory, render.yaml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VERIFICATION DASHBOARD</a:t>
            </a:r>
          </a:p>
          <a:p>
            <a:pPr>
              <a:spcAft>
                <a:spcPts val="200"/>
              </a:spcAft>
              <a:defRPr sz="2400" b="1">
                <a:solidFill>
                  <a:srgbClr val="F1F5F9"/>
                </a:solidFill>
                <a:latin typeface="Segoe UI"/>
              </a:defRPr>
            </a:pPr>
            <a:r>
              <a:t>Built, Tested, and Live.</a:t>
            </a:r>
          </a:p>
          <a:p>
            <a:pPr>
              <a:defRPr sz="1150">
                <a:solidFill>
                  <a:srgbClr val="94A3B8"/>
                </a:solidFill>
                <a:latin typeface="Segoe UI"/>
              </a:defRPr>
            </a:pPr>
            <a:r>
              <a:t>Enterprise software engineering rigor with 806 automated test passes and verified production cloud health.</a:t>
            </a:r>
          </a:p>
        </p:txBody>
      </p:sp>
      <p:sp>
        <p:nvSpPr>
          <p:cNvPr id="4" name="Rounded Rectangle 3"/>
          <p:cNvSpPr/>
          <p:nvPr/>
        </p:nvSpPr>
        <p:spPr>
          <a:xfrm>
            <a:off x="731520" y="1554480"/>
            <a:ext cx="2514600" cy="114300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10B981"/>
                </a:solidFill>
                <a:latin typeface="Segoe UI"/>
              </a:defRPr>
            </a:pPr>
            <a:r>
              <a:t>806</a:t>
            </a:r>
          </a:p>
          <a:p>
            <a:pPr>
              <a:defRPr sz="1000" b="1">
                <a:solidFill>
                  <a:srgbClr val="F1F5F9"/>
                </a:solidFill>
                <a:latin typeface="Segoe UI"/>
              </a:defRPr>
            </a:pPr>
            <a:r>
              <a:t>Automated Tests</a:t>
            </a:r>
          </a:p>
          <a:p>
            <a:pPr>
              <a:defRPr sz="800">
                <a:solidFill>
                  <a:srgbClr val="94A3B8"/>
                </a:solidFill>
                <a:latin typeface="Segoe UI"/>
              </a:defRPr>
            </a:pPr>
            <a:r>
              <a:t>100% passing across security, models, and E2E flows</a:t>
            </a:r>
          </a:p>
        </p:txBody>
      </p:sp>
      <p:sp>
        <p:nvSpPr>
          <p:cNvPr id="5" name="Rounded Rectangle 4"/>
          <p:cNvSpPr/>
          <p:nvPr/>
        </p:nvSpPr>
        <p:spPr>
          <a:xfrm>
            <a:off x="3465576" y="1554480"/>
            <a:ext cx="2514600" cy="114300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3B82F6"/>
                </a:solidFill>
                <a:latin typeface="Segoe UI"/>
              </a:defRPr>
            </a:pPr>
            <a:r>
              <a:t>248</a:t>
            </a:r>
          </a:p>
          <a:p>
            <a:pPr>
              <a:defRPr sz="1000" b="1">
                <a:solidFill>
                  <a:srgbClr val="F1F5F9"/>
                </a:solidFill>
                <a:latin typeface="Segoe UI"/>
              </a:defRPr>
            </a:pPr>
            <a:r>
              <a:t>HEC Universities</a:t>
            </a:r>
          </a:p>
          <a:p>
            <a:pPr>
              <a:defRPr sz="800">
                <a:solidFill>
                  <a:srgbClr val="94A3B8"/>
                </a:solidFill>
                <a:latin typeface="Segoe UI"/>
              </a:defRPr>
            </a:pPr>
            <a:r>
              <a:t>100% recognized by Higher Education Commission</a:t>
            </a:r>
          </a:p>
        </p:txBody>
      </p:sp>
      <p:sp>
        <p:nvSpPr>
          <p:cNvPr id="6" name="Rounded Rectangle 5"/>
          <p:cNvSpPr/>
          <p:nvPr/>
        </p:nvSpPr>
        <p:spPr>
          <a:xfrm>
            <a:off x="6199632" y="1554480"/>
            <a:ext cx="2514600" cy="114300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3B82F6"/>
                </a:solidFill>
                <a:latin typeface="Segoe UI"/>
              </a:defRPr>
            </a:pPr>
            <a:r>
              <a:t>22</a:t>
            </a:r>
          </a:p>
          <a:p>
            <a:pPr>
              <a:defRPr sz="1000" b="1">
                <a:solidFill>
                  <a:srgbClr val="F1F5F9"/>
                </a:solidFill>
                <a:latin typeface="Segoe UI"/>
              </a:defRPr>
            </a:pPr>
            <a:r>
              <a:t>Career Pathways</a:t>
            </a:r>
          </a:p>
          <a:p>
            <a:pPr>
              <a:defRPr sz="800">
                <a:solidFill>
                  <a:srgbClr val="94A3B8"/>
                </a:solidFill>
                <a:latin typeface="Segoe UI"/>
              </a:defRPr>
            </a:pPr>
            <a:r>
              <a:t>Curated Pakistani labor market intelligence</a:t>
            </a:r>
          </a:p>
        </p:txBody>
      </p:sp>
      <p:sp>
        <p:nvSpPr>
          <p:cNvPr id="7" name="Rounded Rectangle 6"/>
          <p:cNvSpPr/>
          <p:nvPr/>
        </p:nvSpPr>
        <p:spPr>
          <a:xfrm>
            <a:off x="8933688" y="1554480"/>
            <a:ext cx="2514600" cy="114300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3B82F6"/>
                </a:solidFill>
                <a:latin typeface="Segoe UI"/>
              </a:defRPr>
            </a:pPr>
            <a:r>
              <a:t>210</a:t>
            </a:r>
          </a:p>
          <a:p>
            <a:pPr>
              <a:defRPr sz="1000" b="1">
                <a:solidFill>
                  <a:srgbClr val="F1F5F9"/>
                </a:solidFill>
                <a:latin typeface="Segoe UI"/>
              </a:defRPr>
            </a:pPr>
            <a:r>
              <a:t>Degree Programs</a:t>
            </a:r>
          </a:p>
          <a:p>
            <a:pPr>
              <a:defRPr sz="800">
                <a:solidFill>
                  <a:srgbClr val="94A3B8"/>
                </a:solidFill>
                <a:latin typeface="Segoe UI"/>
              </a:defRPr>
            </a:pPr>
            <a:r>
              <a:t>Comprehensive academic coverage across 64 fields</a:t>
            </a:r>
          </a:p>
        </p:txBody>
      </p:sp>
      <p:sp>
        <p:nvSpPr>
          <p:cNvPr id="8" name="Rounded Rectangle 7"/>
          <p:cNvSpPr/>
          <p:nvPr/>
        </p:nvSpPr>
        <p:spPr>
          <a:xfrm>
            <a:off x="731520" y="2880360"/>
            <a:ext cx="5166360" cy="329184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50" b="1">
                <a:solidFill>
                  <a:srgbClr val="3B82F6"/>
                </a:solidFill>
                <a:latin typeface="Segoe UI"/>
              </a:defRPr>
            </a:pPr>
            <a:r>
              <a:t>LOCAL DATABASE QUERY BENCHMARKS</a:t>
            </a:r>
          </a:p>
          <a:p>
            <a:pPr>
              <a:spcAft>
                <a:spcPts val="400"/>
              </a:spcAft>
              <a:defRPr sz="950">
                <a:solidFill>
                  <a:srgbClr val="94A3B8"/>
                </a:solidFill>
                <a:latin typeface="Segoe UI"/>
              </a:defRPr>
            </a:pPr>
            <a:r>
              <a:t>• Gateway Health Probe (/health): 3.49 ms avg (15 bytes payload)</a:t>
            </a:r>
          </a:p>
          <a:p>
            <a:pPr>
              <a:spcAft>
                <a:spcPts val="400"/>
              </a:spcAft>
              <a:defRPr sz="950">
                <a:solidFill>
                  <a:srgbClr val="94A3B8"/>
                </a:solidFill>
                <a:latin typeface="Segoe UI"/>
              </a:defRPr>
            </a:pPr>
            <a:r>
              <a:t>• Careers Catalog (/api/v1/careers): 6.03 ms avg (All 22 careers, 2,212 bytes)</a:t>
            </a:r>
          </a:p>
          <a:p>
            <a:pPr>
              <a:spcAft>
                <a:spcPts val="400"/>
              </a:spcAft>
              <a:defRPr sz="950">
                <a:solidFill>
                  <a:srgbClr val="94A3B8"/>
                </a:solidFill>
                <a:latin typeface="Segoe UI"/>
              </a:defRPr>
            </a:pPr>
            <a:r>
              <a:t>• Universities Directory (/api/v1/universities): 4.83 ms avg (248 institutions, 25,675 bytes)</a:t>
            </a:r>
          </a:p>
          <a:p>
            <a:pPr>
              <a:spcAft>
                <a:spcPts val="400"/>
              </a:spcAft>
              <a:defRPr sz="950">
                <a:solidFill>
                  <a:srgbClr val="94A3B8"/>
                </a:solidFill>
                <a:latin typeface="Segoe UI"/>
              </a:defRPr>
            </a:pPr>
            <a:r>
              <a:t>• Student Journey Retrieval (/api/v1/journey/{id}): 11.17 ms avg (Full 4-phase state, 5,183 bytes)</a:t>
            </a:r>
          </a:p>
          <a:p>
            <a:pPr>
              <a:spcAft>
                <a:spcPts val="400"/>
              </a:spcAft>
              <a:defRPr sz="950">
                <a:solidFill>
                  <a:srgbClr val="94A3B8"/>
                </a:solidFill>
                <a:latin typeface="Segoe UI"/>
              </a:defRPr>
            </a:pPr>
            <a:r>
              <a:t>• Mock Interview Question Bank Cache: 4.73 ms avg (10 questions, 4,169 bytes)</a:t>
            </a:r>
          </a:p>
        </p:txBody>
      </p:sp>
      <p:sp>
        <p:nvSpPr>
          <p:cNvPr id="9" name="Rounded Rectangle 8"/>
          <p:cNvSpPr/>
          <p:nvPr/>
        </p:nvSpPr>
        <p:spPr>
          <a:xfrm>
            <a:off x="6263640" y="2880360"/>
            <a:ext cx="5193792" cy="329184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50" b="1">
                <a:solidFill>
                  <a:srgbClr val="10B981"/>
                </a:solidFill>
                <a:latin typeface="Segoe UI"/>
              </a:defRPr>
            </a:pPr>
            <a:r>
              <a:t>VERIFIED LIVE PRODUCTION HEALTH</a:t>
            </a:r>
          </a:p>
          <a:p>
            <a:pPr>
              <a:spcAft>
                <a:spcPts val="300"/>
              </a:spcAft>
              <a:defRPr sz="919">
                <a:solidFill>
                  <a:srgbClr val="94A3B8"/>
                </a:solidFill>
                <a:latin typeface="Segoe UI"/>
              </a:defRPr>
            </a:pPr>
            <a:r>
              <a:t>✓  Web Application (Vercel Edge): HTTP 200 (1033 ms)</a:t>
            </a:r>
            <a:br/>
            <a:r>
              <a:t>    career-os-seven-flame.vercel.app</a:t>
            </a:r>
          </a:p>
          <a:p>
            <a:pPr>
              <a:spcAft>
                <a:spcPts val="300"/>
              </a:spcAft>
              <a:defRPr sz="919">
                <a:solidFill>
                  <a:srgbClr val="94A3B8"/>
                </a:solidFill>
                <a:latin typeface="Segoe UI"/>
              </a:defRPr>
            </a:pPr>
            <a:r>
              <a:t>✓  Backend Gateway (Render): HTTP 200 (406 ms)</a:t>
            </a:r>
            <a:br/>
            <a:r>
              <a:t>    ah-career-backend.onrender.com</a:t>
            </a:r>
          </a:p>
          <a:p>
            <a:pPr>
              <a:spcAft>
                <a:spcPts val="300"/>
              </a:spcAft>
              <a:defRPr sz="919">
                <a:solidFill>
                  <a:srgbClr val="94A3B8"/>
                </a:solidFill>
                <a:latin typeface="Segoe UI"/>
              </a:defRPr>
            </a:pPr>
            <a:r>
              <a:t>✓  Interactive Swagger API: HTTP 200 (352 ms)</a:t>
            </a:r>
            <a:br/>
            <a:r>
              <a:t>    ah-career-backend.onrender.com/docs</a:t>
            </a:r>
          </a:p>
          <a:p>
            <a:pPr>
              <a:spcAft>
                <a:spcPts val="300"/>
              </a:spcAft>
              <a:defRPr sz="919">
                <a:solidFill>
                  <a:srgbClr val="94A3B8"/>
                </a:solidFill>
                <a:latin typeface="Segoe UI"/>
              </a:defRPr>
            </a:pPr>
            <a:r>
              <a:t>✓  Gateway Health Probe: HTTP 200 (939 ms)</a:t>
            </a:r>
            <a:br/>
            <a:r>
              <a:t>    ah-career-backend.onrender.com/health</a:t>
            </a:r>
          </a:p>
          <a:p>
            <a:pPr>
              <a:spcAft>
                <a:spcPts val="300"/>
              </a:spcAft>
              <a:defRPr sz="919">
                <a:solidFill>
                  <a:srgbClr val="94A3B8"/>
                </a:solidFill>
                <a:latin typeface="Segoe UI"/>
              </a:defRPr>
            </a:pPr>
            <a:r>
              <a:t>✓  Automated Pytest Suite: 806 Tests Passing</a:t>
            </a:r>
            <a:br/>
            <a:r>
              <a:t>    pytest in BackEnd/ (0 failures, 0 errors)</a:t>
            </a:r>
          </a:p>
        </p:txBody>
      </p:sp>
      <p:sp>
        <p:nvSpPr>
          <p:cNvPr id="10" name="TextBox 9"/>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Source: Docs/FINAL_RELEASE_AUDIT.md §10, §12, §16 &amp; live probe measurements September 7,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A"/>
          </a:solidFill>
          <a:ln>
            <a:solidFill>
              <a:srgbClr val="0B0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1000" b="1">
                <a:solidFill>
                  <a:srgbClr val="3B82F6"/>
                </a:solidFill>
                <a:latin typeface="Segoe UI"/>
              </a:defRPr>
            </a:pPr>
            <a:r>
              <a:t>CONCLUSION &amp; NEXT HORIZON</a:t>
            </a:r>
          </a:p>
          <a:p>
            <a:pPr>
              <a:spcAft>
                <a:spcPts val="200"/>
              </a:spcAft>
              <a:defRPr sz="2400" b="1">
                <a:solidFill>
                  <a:srgbClr val="F1F5F9"/>
                </a:solidFill>
                <a:latin typeface="Segoe UI"/>
              </a:defRPr>
            </a:pPr>
            <a:r>
              <a:t>Career OS Turns Uncertainty Into a Next Step.</a:t>
            </a:r>
          </a:p>
          <a:p>
            <a:pPr>
              <a:defRPr sz="1150">
                <a:solidFill>
                  <a:srgbClr val="94A3B8"/>
                </a:solidFill>
                <a:latin typeface="Segoe UI"/>
              </a:defRPr>
            </a:pPr>
            <a:r>
              <a:t>Bridging ambition and achievement for 60+ million Pakistani youth through structured, grounded guidance.</a:t>
            </a:r>
          </a:p>
        </p:txBody>
      </p:sp>
      <p:sp>
        <p:nvSpPr>
          <p:cNvPr id="4" name="Rounded Rectangle 3"/>
          <p:cNvSpPr/>
          <p:nvPr/>
        </p:nvSpPr>
        <p:spPr>
          <a:xfrm>
            <a:off x="731520" y="1554480"/>
            <a:ext cx="5669280" cy="4617720"/>
          </a:xfrm>
          <a:prstGeom prst="roundRect">
            <a:avLst/>
          </a:prstGeom>
          <a:solidFill>
            <a:srgbClr val="111827"/>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200" b="1">
                <a:solidFill>
                  <a:srgbClr val="3B82F6"/>
                </a:solidFill>
                <a:latin typeface="Segoe UI"/>
              </a:defRPr>
            </a:pPr>
            <a:r>
              <a:t>WHAT WE BUILT &amp; PROVED</a:t>
            </a:r>
          </a:p>
          <a:p>
            <a:pPr>
              <a:spcAft>
                <a:spcPts val="800"/>
              </a:spcAft>
              <a:defRPr sz="1000">
                <a:solidFill>
                  <a:srgbClr val="94A3B8"/>
                </a:solidFill>
                <a:latin typeface="Segoe UI"/>
              </a:defRPr>
            </a:pPr>
            <a:r>
              <a:t>• The Operating System Works: Proved that Pakistani career navigation can be structured into deterministic, stage-aware roadmaps.</a:t>
            </a:r>
          </a:p>
          <a:p>
            <a:pPr>
              <a:spcAft>
                <a:spcPts val="800"/>
              </a:spcAft>
              <a:defRPr sz="1000">
                <a:solidFill>
                  <a:srgbClr val="94A3B8"/>
                </a:solidFill>
                <a:latin typeface="Segoe UI"/>
              </a:defRPr>
            </a:pPr>
            <a:r>
              <a:t>• Verified National Scale: 248 Universities, 210 Programs, 22 Pathways, 86 Learning Resources, 38 Opportunities, 18 Sports Pathways.</a:t>
            </a:r>
          </a:p>
          <a:p>
            <a:pPr>
              <a:spcAft>
                <a:spcPts val="800"/>
              </a:spcAft>
              <a:defRPr sz="1000">
                <a:solidFill>
                  <a:srgbClr val="94A3B8"/>
                </a:solidFill>
                <a:latin typeface="Segoe UI"/>
              </a:defRPr>
            </a:pPr>
            <a:r>
              <a:t>• Enterprise Engineering: 806 automated tests, sub-15ms core queries, multi-model Qwen fallback, and active cloud deployment.</a:t>
            </a:r>
          </a:p>
          <a:p>
            <a:pPr>
              <a:spcAft>
                <a:spcPts val="800"/>
              </a:spcAft>
              <a:defRPr sz="1000">
                <a:solidFill>
                  <a:srgbClr val="94A3B8"/>
                </a:solidFill>
                <a:latin typeface="Segoe UI"/>
              </a:defRPr>
            </a:pPr>
            <a:r>
              <a:t>• Immediate Next Horizon: Partnering with secondary boards (FBISE, BIEK) and universities to embed Career OS into national counseling.</a:t>
            </a:r>
          </a:p>
          <a:p>
            <a:pPr>
              <a:spcAft>
                <a:spcPts val="800"/>
              </a:spcAft>
              <a:defRPr sz="1000">
                <a:solidFill>
                  <a:srgbClr val="94A3B8"/>
                </a:solidFill>
                <a:latin typeface="Segoe UI"/>
              </a:defRPr>
            </a:pPr>
            <a:r>
              <a:t>• The Bottom Line: Replaces anxiety, peer pressure, and rumors with confidence, clarity, and an actionable roadmap to employment.</a:t>
            </a:r>
          </a:p>
        </p:txBody>
      </p:sp>
      <p:sp>
        <p:nvSpPr>
          <p:cNvPr id="5" name="Rounded Rectangle 4"/>
          <p:cNvSpPr/>
          <p:nvPr/>
        </p:nvSpPr>
        <p:spPr>
          <a:xfrm>
            <a:off x="6675120" y="1554480"/>
            <a:ext cx="4782312" cy="4617720"/>
          </a:xfrm>
          <a:prstGeom prst="roundRect">
            <a:avLst/>
          </a:prstGeom>
          <a:solidFill>
            <a:srgbClr val="1C2539"/>
          </a:solidFill>
          <a:ln w="15240">
            <a:solidFill>
              <a:srgbClr val="2A3A5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200" b="1">
                <a:solidFill>
                  <a:srgbClr val="10B981"/>
                </a:solidFill>
                <a:latin typeface="Segoe UI"/>
              </a:defRPr>
            </a:pPr>
            <a:r>
              <a:t>LIVE DEMONSTRATION &amp; ACCESS</a:t>
            </a:r>
          </a:p>
          <a:p>
            <a:pPr>
              <a:spcAft>
                <a:spcPts val="1200"/>
              </a:spcAft>
              <a:defRPr sz="2600" b="1">
                <a:solidFill>
                  <a:srgbClr val="F1F5F9"/>
                </a:solidFill>
                <a:latin typeface="Segoe UI"/>
              </a:defRPr>
            </a:pPr>
            <a:r>
              <a:t>CAREER OS</a:t>
            </a:r>
          </a:p>
          <a:p>
            <a:pPr>
              <a:spcAft>
                <a:spcPts val="700"/>
              </a:spcAft>
              <a:defRPr sz="980">
                <a:solidFill>
                  <a:srgbClr val="3B82F6"/>
                </a:solidFill>
                <a:latin typeface="Segoe UI"/>
              </a:defRPr>
            </a:pPr>
            <a:r>
              <a:t>→ Web Application:</a:t>
            </a:r>
            <a:br/>
            <a:r>
              <a:t>   https://career-os-seven-flame.vercel.app</a:t>
            </a:r>
          </a:p>
          <a:p>
            <a:pPr>
              <a:spcAft>
                <a:spcPts val="700"/>
              </a:spcAft>
              <a:defRPr sz="980">
                <a:solidFill>
                  <a:srgbClr val="3B82F6"/>
                </a:solidFill>
                <a:latin typeface="Segoe UI"/>
              </a:defRPr>
            </a:pPr>
            <a:r>
              <a:t>→ Backend Gateway:</a:t>
            </a:r>
            <a:br/>
            <a:r>
              <a:t>   https://ah-career-backend.onrender.com</a:t>
            </a:r>
          </a:p>
          <a:p>
            <a:pPr>
              <a:spcAft>
                <a:spcPts val="700"/>
              </a:spcAft>
              <a:defRPr sz="980">
                <a:solidFill>
                  <a:srgbClr val="3B82F6"/>
                </a:solidFill>
                <a:latin typeface="Segoe UI"/>
              </a:defRPr>
            </a:pPr>
            <a:r>
              <a:t>→ Interactive Swagger:</a:t>
            </a:r>
            <a:br/>
            <a:r>
              <a:t>   https://ah-career-backend.onrender.com/docs</a:t>
            </a:r>
          </a:p>
          <a:p>
            <a:pPr>
              <a:spcAft>
                <a:spcPts val="700"/>
              </a:spcAft>
              <a:defRPr sz="980">
                <a:solidFill>
                  <a:srgbClr val="3B82F6"/>
                </a:solidFill>
                <a:latin typeface="Segoe UI"/>
              </a:defRPr>
            </a:pPr>
            <a:r>
              <a:t>→ Repository:</a:t>
            </a:r>
            <a:br/>
            <a:r>
              <a:t>   https://github.com/anasimam10/Career-OS</a:t>
            </a:r>
          </a:p>
          <a:p>
            <a:pPr>
              <a:spcAft>
                <a:spcPts val="700"/>
              </a:spcAft>
              <a:defRPr sz="980">
                <a:solidFill>
                  <a:srgbClr val="94A3B8"/>
                </a:solidFill>
                <a:latin typeface="Segoe UI"/>
              </a:defRPr>
            </a:pPr>
            <a:r>
              <a:t>→ Live Demonstration Flow:</a:t>
            </a:r>
            <a:br/>
            <a:r>
              <a:t>   Try 7-Step Onboarding → Journey → 7-Day Trial → Mock Interview</a:t>
            </a:r>
          </a:p>
        </p:txBody>
      </p:sp>
      <p:sp>
        <p:nvSpPr>
          <p:cNvPr id="6" name="TextBox 5"/>
          <p:cNvSpPr txBox="1"/>
          <p:nvPr/>
        </p:nvSpPr>
        <p:spPr>
          <a:xfrm>
            <a:off x="731520" y="6473952"/>
            <a:ext cx="10728655" cy="256032"/>
          </a:xfrm>
          <a:prstGeom prst="rect">
            <a:avLst/>
          </a:prstGeom>
          <a:noFill/>
        </p:spPr>
        <p:txBody>
          <a:bodyPr wrap="square" lIns="0" tIns="0" rIns="0" bIns="0">
            <a:spAutoFit/>
          </a:bodyPr>
          <a:lstStyle/>
          <a:p>
            <a:pPr>
              <a:defRPr sz="850">
                <a:solidFill>
                  <a:srgbClr val="64748B"/>
                </a:solidFill>
                <a:latin typeface="Segoe UI"/>
              </a:defRPr>
            </a:pPr>
            <a:r>
              <a:t>Career OS — Pakistan's Career Operating System · All Rights Reserved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